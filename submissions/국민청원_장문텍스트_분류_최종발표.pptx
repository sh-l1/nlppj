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62D"/>
          </a:solidFill>
          <a:ln w="12700">
            <a:solidFill>
              <a:srgbClr val="102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01400" y="4297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7CC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21792" y="749808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5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NLP REPORT · 2026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621792" y="1325880"/>
            <a:ext cx="6583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국민청원 장문 텍스트</a:t>
            </a:r>
            <a:endParaRPr lang="en-US" sz="3300" dirty="0"/>
          </a:p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분류 프로젝트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21792" y="2743200"/>
            <a:ext cx="4937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9DAD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 · 모델링 · Transformer fine-tuning · 오분류 분석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685800" y="3886200"/>
            <a:ext cx="1691640" cy="1170432"/>
          </a:xfrm>
          <a:prstGeom prst="rect">
            <a:avLst/>
          </a:prstGeom>
          <a:solidFill>
            <a:srgbClr val="FFFDF8"/>
          </a:solidFill>
          <a:ln w="8255">
            <a:solidFill>
              <a:srgbClr val="D7CB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50392" y="4050792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 F1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850392" y="4325112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5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0.8847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50392" y="4828032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E5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0.88 achieved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2651760" y="3886200"/>
            <a:ext cx="1691640" cy="1170432"/>
          </a:xfrm>
          <a:prstGeom prst="rect">
            <a:avLst/>
          </a:prstGeom>
          <a:solidFill>
            <a:srgbClr val="FFFDF8"/>
          </a:solidFill>
          <a:ln w="8255">
            <a:solidFill>
              <a:srgbClr val="D7CB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816352" y="4050792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Improvement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2816352" y="4325112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5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+0.0912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816352" y="4828032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E5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 best baseline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4617720" y="3886200"/>
            <a:ext cx="1691640" cy="1170432"/>
          </a:xfrm>
          <a:prstGeom prst="rect">
            <a:avLst/>
          </a:prstGeom>
          <a:solidFill>
            <a:srgbClr val="FFFDF8"/>
          </a:solidFill>
          <a:ln w="8255">
            <a:solidFill>
              <a:srgbClr val="D7CB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82312" y="4050792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Scope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4782312" y="4325112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5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782312" y="4828032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E5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slides / 5 min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6903720" y="868680"/>
            <a:ext cx="4251960" cy="4480560"/>
          </a:xfrm>
          <a:prstGeom prst="rect">
            <a:avLst/>
          </a:prstGeom>
          <a:solidFill>
            <a:srgbClr val="FFFDF8"/>
          </a:solidFill>
          <a:ln w="11430">
            <a:solidFill>
              <a:srgbClr val="D7CB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0" y="3035808"/>
            <a:ext cx="4251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IMAGE PLACEHOLDER · 16:9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7104888" y="1078992"/>
            <a:ext cx="3849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1B2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프로젝트 구조 또는 데이터 예시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7104888" y="4965192"/>
            <a:ext cx="3849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README.md 또는 data/raw/train.csv 캡처</a:t>
            </a:r>
            <a:endParaRPr lang="en-US" sz="720" dirty="0"/>
          </a:p>
        </p:txBody>
      </p:sp>
      <p:sp>
        <p:nvSpPr>
          <p:cNvPr id="23" name="Shape 21"/>
          <p:cNvSpPr/>
          <p:nvPr/>
        </p:nvSpPr>
        <p:spPr>
          <a:xfrm>
            <a:off x="621792" y="6272784"/>
            <a:ext cx="10927080" cy="0"/>
          </a:xfrm>
          <a:prstGeom prst="line">
            <a:avLst/>
          </a:prstGeom>
          <a:noFill/>
          <a:ln w="8255">
            <a:solidFill>
              <a:srgbClr val="31515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6428232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B7CC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Metrics · Visualization · Insights · Analysis</a:t>
            </a:r>
            <a:endParaRPr lang="en-US" sz="7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01400" y="4297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21792" y="411480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AGENDA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21792" y="7315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B2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Table of Contents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83080" y="1728216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B2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Problem &amp; Data</a:t>
            </a:r>
            <a:endParaRPr lang="en-US" sz="1220" dirty="0"/>
          </a:p>
        </p:txBody>
      </p:sp>
      <p:sp>
        <p:nvSpPr>
          <p:cNvPr id="8" name="Text 6"/>
          <p:cNvSpPr/>
          <p:nvPr/>
        </p:nvSpPr>
        <p:spPr>
          <a:xfrm>
            <a:off x="1783080" y="203911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장문 국민청원 데이터와 품질 리스크</a:t>
            </a:r>
            <a:endParaRPr lang="en-US" sz="780" dirty="0"/>
          </a:p>
        </p:txBody>
      </p:sp>
      <p:sp>
        <p:nvSpPr>
          <p:cNvPr id="9" name="Shape 7"/>
          <p:cNvSpPr/>
          <p:nvPr/>
        </p:nvSpPr>
        <p:spPr>
          <a:xfrm>
            <a:off x="1783080" y="2359152"/>
            <a:ext cx="4160520" cy="0"/>
          </a:xfrm>
          <a:prstGeom prst="line">
            <a:avLst/>
          </a:prstGeom>
          <a:noFill/>
          <a:ln w="6985">
            <a:solidFill>
              <a:srgbClr val="D7CBB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74320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783080" y="2734056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B2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Preprocessing &amp; Control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1783080" y="30449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 근거와 동일 split 실험 통제</a:t>
            </a:r>
            <a:endParaRPr lang="en-US" sz="780" dirty="0"/>
          </a:p>
        </p:txBody>
      </p:sp>
      <p:sp>
        <p:nvSpPr>
          <p:cNvPr id="13" name="Shape 11"/>
          <p:cNvSpPr/>
          <p:nvPr/>
        </p:nvSpPr>
        <p:spPr>
          <a:xfrm>
            <a:off x="1783080" y="3364992"/>
            <a:ext cx="4160520" cy="0"/>
          </a:xfrm>
          <a:prstGeom prst="line">
            <a:avLst/>
          </a:prstGeom>
          <a:noFill/>
          <a:ln w="6985">
            <a:solidFill>
              <a:srgbClr val="D7CB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74904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783080" y="3739896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B2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Model Comparison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1783080" y="405079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TF-IDF, LSTM, Transformer 비교</a:t>
            </a:r>
            <a:endParaRPr lang="en-US" sz="780" dirty="0"/>
          </a:p>
        </p:txBody>
      </p:sp>
      <p:sp>
        <p:nvSpPr>
          <p:cNvPr id="17" name="Shape 15"/>
          <p:cNvSpPr/>
          <p:nvPr/>
        </p:nvSpPr>
        <p:spPr>
          <a:xfrm>
            <a:off x="1783080" y="4370832"/>
            <a:ext cx="4160520" cy="0"/>
          </a:xfrm>
          <a:prstGeom prst="line">
            <a:avLst/>
          </a:prstGeom>
          <a:noFill/>
          <a:ln w="6985">
            <a:solidFill>
              <a:srgbClr val="D7CB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73736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1728216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B2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Results &amp; Errors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7132320" y="203911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macro F1, Confusion Matrix, 오분류 해석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7132320" y="2359152"/>
            <a:ext cx="4160520" cy="0"/>
          </a:xfrm>
          <a:prstGeom prst="line">
            <a:avLst/>
          </a:prstGeom>
          <a:noFill/>
          <a:ln w="6985">
            <a:solidFill>
              <a:srgbClr val="D7CB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2743200"/>
            <a:ext cx="475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7132320" y="2734056"/>
            <a:ext cx="3291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151B2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Conclusion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7132320" y="3044952"/>
            <a:ext cx="3931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성과와 후속 개선 로드맵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7132320" y="3364992"/>
            <a:ext cx="4160520" cy="0"/>
          </a:xfrm>
          <a:prstGeom prst="line">
            <a:avLst/>
          </a:prstGeom>
          <a:noFill/>
          <a:ln w="6985">
            <a:solidFill>
              <a:srgbClr val="D7CBB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1792" y="6272784"/>
            <a:ext cx="10927080" cy="0"/>
          </a:xfrm>
          <a:prstGeom prst="line">
            <a:avLst/>
          </a:prstGeom>
          <a:noFill/>
          <a:ln w="8255">
            <a:solidFill>
              <a:srgbClr val="D7CB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6428232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흐름은 교수님 요구사항인 코드 흐름, 파라미터 근거, 결과 해석을 직접 설명하는 구조로 구성</a:t>
            </a:r>
            <a:endParaRPr lang="en-US" sz="73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01400" y="4297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21792" y="411480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ANALYSIS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21792" y="7315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B2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국민청원 본문은 짧은 문장이 아니라 사회 이슈가 섞인 장문 분류 문제다.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68680" y="182880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데이터는 train </a:t>
            </a:r>
            <a:pPr indent="0" marL="0">
              <a:buNone/>
            </a:pPr>
            <a:r>
              <a:rPr lang="en-US" sz="140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40,000건</a:t>
            </a:r>
            <a:pPr indent="0" marL="0">
              <a:buNone/>
            </a:pPr>
            <a:r>
              <a:rPr lang="en-US" sz="140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test </a:t>
            </a:r>
            <a:pPr indent="0" marL="0">
              <a:buNone/>
            </a:pPr>
            <a:r>
              <a:rPr lang="en-US" sz="1400" b="1" dirty="0">
                <a:solidFill>
                  <a:srgbClr val="B65A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5,000건</a:t>
            </a:r>
            <a:pPr indent="0" marL="0">
              <a:buNone/>
            </a:pPr>
            <a:r>
              <a:rPr lang="en-US" sz="140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구성된다. 청원 본문은 평균 </a:t>
            </a:r>
            <a:pPr indent="0" marL="0">
              <a:buNone/>
            </a:pPr>
            <a:r>
              <a:rPr lang="en-US" sz="1400" b="1" dirty="0">
                <a:solidFill>
                  <a:srgbClr val="6958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546.05자</a:t>
            </a:r>
            <a:pPr indent="0" marL="0">
              <a:buNone/>
            </a:pPr>
            <a:r>
              <a:rPr lang="en-US" sz="140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이며 최대 32,767자까지 길어져 RNN/LSTM의 입력 길이 제한과 Transformer truncation이 모두 중요한 설계 이슈가 된다.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0" y="1600200"/>
            <a:ext cx="1463040" cy="1097280"/>
          </a:xfrm>
          <a:prstGeom prst="rect">
            <a:avLst/>
          </a:prstGeom>
          <a:solidFill>
            <a:srgbClr val="FFFDF8"/>
          </a:solidFill>
          <a:ln w="8255">
            <a:solidFill>
              <a:srgbClr val="D7CB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56832" y="1764792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820" dirty="0"/>
          </a:p>
        </p:txBody>
      </p:sp>
      <p:sp>
        <p:nvSpPr>
          <p:cNvPr id="9" name="Text 7"/>
          <p:cNvSpPr/>
          <p:nvPr/>
        </p:nvSpPr>
        <p:spPr>
          <a:xfrm>
            <a:off x="6656832" y="203911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40K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6656832" y="2542032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labeled rows</a:t>
            </a:r>
            <a:endParaRPr lang="en-US" sz="770" dirty="0"/>
          </a:p>
        </p:txBody>
      </p:sp>
      <p:sp>
        <p:nvSpPr>
          <p:cNvPr id="11" name="Shape 9"/>
          <p:cNvSpPr/>
          <p:nvPr/>
        </p:nvSpPr>
        <p:spPr>
          <a:xfrm>
            <a:off x="8183880" y="1600200"/>
            <a:ext cx="1463040" cy="1097280"/>
          </a:xfrm>
          <a:prstGeom prst="rect">
            <a:avLst/>
          </a:prstGeom>
          <a:solidFill>
            <a:srgbClr val="FFFDF8"/>
          </a:solidFill>
          <a:ln w="8255">
            <a:solidFill>
              <a:srgbClr val="D7CB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48472" y="1764792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</a:t>
            </a:r>
            <a:endParaRPr lang="en-US" sz="820" dirty="0"/>
          </a:p>
        </p:txBody>
      </p:sp>
      <p:sp>
        <p:nvSpPr>
          <p:cNvPr id="13" name="Text 11"/>
          <p:cNvSpPr/>
          <p:nvPr/>
        </p:nvSpPr>
        <p:spPr>
          <a:xfrm>
            <a:off x="8348472" y="203911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65A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48472" y="2542032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B65A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submission rows</a:t>
            </a:r>
            <a:endParaRPr lang="en-US" sz="770" dirty="0"/>
          </a:p>
        </p:txBody>
      </p:sp>
      <p:sp>
        <p:nvSpPr>
          <p:cNvPr id="15" name="Shape 13"/>
          <p:cNvSpPr/>
          <p:nvPr/>
        </p:nvSpPr>
        <p:spPr>
          <a:xfrm>
            <a:off x="9875520" y="1600200"/>
            <a:ext cx="1463040" cy="1097280"/>
          </a:xfrm>
          <a:prstGeom prst="rect">
            <a:avLst/>
          </a:prstGeom>
          <a:solidFill>
            <a:srgbClr val="FFFDF8"/>
          </a:solidFill>
          <a:ln w="8255">
            <a:solidFill>
              <a:srgbClr val="D7CBB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40112" y="1764792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Classes</a:t>
            </a:r>
            <a:endParaRPr lang="en-US" sz="820" dirty="0"/>
          </a:p>
        </p:txBody>
      </p:sp>
      <p:sp>
        <p:nvSpPr>
          <p:cNvPr id="17" name="Text 15"/>
          <p:cNvSpPr/>
          <p:nvPr/>
        </p:nvSpPr>
        <p:spPr>
          <a:xfrm>
            <a:off x="10040112" y="2039112"/>
            <a:ext cx="1133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6958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40112" y="2542032"/>
            <a:ext cx="11338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6958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labels</a:t>
            </a:r>
            <a:endParaRPr lang="en-US" sz="770" dirty="0"/>
          </a:p>
        </p:txBody>
      </p:sp>
      <p:sp>
        <p:nvSpPr>
          <p:cNvPr id="19" name="Shape 17"/>
          <p:cNvSpPr/>
          <p:nvPr/>
        </p:nvSpPr>
        <p:spPr>
          <a:xfrm>
            <a:off x="6492240" y="3246120"/>
            <a:ext cx="2240280" cy="1508760"/>
          </a:xfrm>
          <a:prstGeom prst="rect">
            <a:avLst/>
          </a:prstGeom>
          <a:solidFill>
            <a:srgbClr val="FFFDF8"/>
          </a:solidFill>
          <a:ln w="8890">
            <a:solidFill>
              <a:srgbClr val="D7CB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48272" y="3502152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65A35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Risk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793992" y="4050792"/>
            <a:ext cx="73152" cy="73152"/>
          </a:xfrm>
          <a:prstGeom prst="ellipse">
            <a:avLst/>
          </a:prstGeom>
          <a:solidFill>
            <a:srgbClr val="B65A35"/>
          </a:solidFill>
          <a:ln w="12700">
            <a:solidFill>
              <a:srgbClr val="B65A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95160" y="39593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장문 본문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793992" y="4462272"/>
            <a:ext cx="73152" cy="73152"/>
          </a:xfrm>
          <a:prstGeom prst="ellipse">
            <a:avLst/>
          </a:prstGeom>
          <a:solidFill>
            <a:srgbClr val="B65A35"/>
          </a:solidFill>
          <a:ln w="12700">
            <a:solidFill>
              <a:srgbClr val="B65A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95160" y="43708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사회 이슈 중첩</a:t>
            </a:r>
            <a:endParaRPr lang="en-US" sz="880" dirty="0"/>
          </a:p>
        </p:txBody>
      </p:sp>
      <p:sp>
        <p:nvSpPr>
          <p:cNvPr id="25" name="Shape 23"/>
          <p:cNvSpPr/>
          <p:nvPr/>
        </p:nvSpPr>
        <p:spPr>
          <a:xfrm>
            <a:off x="6793992" y="4873752"/>
            <a:ext cx="73152" cy="73152"/>
          </a:xfrm>
          <a:prstGeom prst="ellipse">
            <a:avLst/>
          </a:prstGeom>
          <a:solidFill>
            <a:srgbClr val="B65A35"/>
          </a:solidFill>
          <a:ln w="12700">
            <a:solidFill>
              <a:srgbClr val="B65A3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95160" y="47823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라벨 경계 혼동</a:t>
            </a:r>
            <a:endParaRPr lang="en-US" sz="880" dirty="0"/>
          </a:p>
        </p:txBody>
      </p:sp>
      <p:sp>
        <p:nvSpPr>
          <p:cNvPr id="27" name="Shape 25"/>
          <p:cNvSpPr/>
          <p:nvPr/>
        </p:nvSpPr>
        <p:spPr>
          <a:xfrm>
            <a:off x="9052560" y="3246120"/>
            <a:ext cx="2240280" cy="1508760"/>
          </a:xfrm>
          <a:prstGeom prst="rect">
            <a:avLst/>
          </a:prstGeom>
          <a:solidFill>
            <a:srgbClr val="DCECE7"/>
          </a:solidFill>
          <a:ln w="13970">
            <a:solidFill>
              <a:srgbClr val="0D6B6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08592" y="3502152"/>
            <a:ext cx="17282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6B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Response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354312" y="4050792"/>
            <a:ext cx="73152" cy="73152"/>
          </a:xfrm>
          <a:prstGeom prst="ellipse">
            <a:avLst/>
          </a:prstGeom>
          <a:solidFill>
            <a:srgbClr val="0D6B66"/>
          </a:solidFill>
          <a:ln w="12700">
            <a:solidFill>
              <a:srgbClr val="0D6B6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555480" y="395935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정제 규칙</a:t>
            </a:r>
            <a:endParaRPr lang="en-US" sz="880" dirty="0"/>
          </a:p>
        </p:txBody>
      </p:sp>
      <p:sp>
        <p:nvSpPr>
          <p:cNvPr id="31" name="Shape 29"/>
          <p:cNvSpPr/>
          <p:nvPr/>
        </p:nvSpPr>
        <p:spPr>
          <a:xfrm>
            <a:off x="9354312" y="4462272"/>
            <a:ext cx="73152" cy="73152"/>
          </a:xfrm>
          <a:prstGeom prst="ellipse">
            <a:avLst/>
          </a:prstGeom>
          <a:solidFill>
            <a:srgbClr val="0D6B66"/>
          </a:solidFill>
          <a:ln w="12700">
            <a:solidFill>
              <a:srgbClr val="0D6B6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555480" y="437083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split</a:t>
            </a:r>
            <a:endParaRPr lang="en-US" sz="880" dirty="0"/>
          </a:p>
        </p:txBody>
      </p:sp>
      <p:sp>
        <p:nvSpPr>
          <p:cNvPr id="33" name="Shape 31"/>
          <p:cNvSpPr/>
          <p:nvPr/>
        </p:nvSpPr>
        <p:spPr>
          <a:xfrm>
            <a:off x="9354312" y="4873752"/>
            <a:ext cx="73152" cy="73152"/>
          </a:xfrm>
          <a:prstGeom prst="ellipse">
            <a:avLst/>
          </a:prstGeom>
          <a:solidFill>
            <a:srgbClr val="0D6B66"/>
          </a:solidFill>
          <a:ln w="12700">
            <a:solidFill>
              <a:srgbClr val="0D6B6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55480" y="4782312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Transformer 비교</a:t>
            </a:r>
            <a:endParaRPr lang="en-US" sz="880" dirty="0"/>
          </a:p>
        </p:txBody>
      </p:sp>
      <p:sp>
        <p:nvSpPr>
          <p:cNvPr id="35" name="Shape 33"/>
          <p:cNvSpPr/>
          <p:nvPr/>
        </p:nvSpPr>
        <p:spPr>
          <a:xfrm>
            <a:off x="621792" y="6272784"/>
            <a:ext cx="10927080" cy="0"/>
          </a:xfrm>
          <a:prstGeom prst="line">
            <a:avLst/>
          </a:prstGeom>
          <a:noFill/>
          <a:ln w="8255">
            <a:solidFill>
              <a:srgbClr val="D7CBB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6428232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핵심은 단순 정확도보다 장문 문맥과 라벨 경계에 대한 설명 가능성</a:t>
            </a:r>
            <a:endParaRPr lang="en-US" sz="7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01400" y="4297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21792" y="411480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COMPARISON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21792" y="7315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B2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라벨은 균형적이지만 결측·중복·긴 본문이 모델링 리스크다.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" y="1691640"/>
            <a:ext cx="3886200" cy="3063240"/>
          </a:xfrm>
          <a:prstGeom prst="rect">
            <a:avLst/>
          </a:prstGeom>
          <a:solidFill>
            <a:srgbClr val="FFFDF8"/>
          </a:solidFill>
          <a:ln w="8890">
            <a:solidFill>
              <a:srgbClr val="D7CB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4712" y="1947672"/>
            <a:ext cx="3374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65A35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Before preprocessing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170432" y="2496312"/>
            <a:ext cx="73152" cy="73152"/>
          </a:xfrm>
          <a:prstGeom prst="ellipse">
            <a:avLst/>
          </a:prstGeom>
          <a:solidFill>
            <a:srgbClr val="B65A35"/>
          </a:solidFill>
          <a:ln w="12700">
            <a:solidFill>
              <a:srgbClr val="B65A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24048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결측 본문 8건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1170432" y="2907792"/>
            <a:ext cx="73152" cy="73152"/>
          </a:xfrm>
          <a:prstGeom prst="ellipse">
            <a:avLst/>
          </a:prstGeom>
          <a:solidFill>
            <a:srgbClr val="B65A35"/>
          </a:solidFill>
          <a:ln w="12700">
            <a:solidFill>
              <a:srgbClr val="B65A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28163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 본문 637건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1170432" y="3319272"/>
            <a:ext cx="73152" cy="73152"/>
          </a:xfrm>
          <a:prstGeom prst="ellipse">
            <a:avLst/>
          </a:prstGeom>
          <a:solidFill>
            <a:srgbClr val="B65A35"/>
          </a:solidFill>
          <a:ln w="12700">
            <a:solidFill>
              <a:srgbClr val="B65A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71600" y="3227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최대 길이 32,767자</a:t>
            </a:r>
            <a:endParaRPr lang="en-US" sz="880" dirty="0"/>
          </a:p>
        </p:txBody>
      </p:sp>
      <p:sp>
        <p:nvSpPr>
          <p:cNvPr id="14" name="Shape 12"/>
          <p:cNvSpPr/>
          <p:nvPr/>
        </p:nvSpPr>
        <p:spPr>
          <a:xfrm>
            <a:off x="1170432" y="3730752"/>
            <a:ext cx="73152" cy="73152"/>
          </a:xfrm>
          <a:prstGeom prst="ellipse">
            <a:avLst/>
          </a:prstGeom>
          <a:solidFill>
            <a:srgbClr val="B65A35"/>
          </a:solidFill>
          <a:ln w="12700">
            <a:solidFill>
              <a:srgbClr val="B65A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71600" y="36393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상위 토큰에 청원 관용 표현 포함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5166360" y="1691640"/>
            <a:ext cx="3886200" cy="3063240"/>
          </a:xfrm>
          <a:prstGeom prst="rect">
            <a:avLst/>
          </a:prstGeom>
          <a:solidFill>
            <a:srgbClr val="DCECE7"/>
          </a:solidFill>
          <a:ln w="13970">
            <a:solidFill>
              <a:srgbClr val="0D6B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22392" y="1947672"/>
            <a:ext cx="3374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6B66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After preprocessing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468112" y="2496312"/>
            <a:ext cx="73152" cy="73152"/>
          </a:xfrm>
          <a:prstGeom prst="ellipse">
            <a:avLst/>
          </a:prstGeom>
          <a:solidFill>
            <a:srgbClr val="0D6B66"/>
          </a:solidFill>
          <a:ln w="12700">
            <a:solidFill>
              <a:srgbClr val="0D6B6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69280" y="24048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정제 후 train 39,272건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468112" y="2907792"/>
            <a:ext cx="73152" cy="73152"/>
          </a:xfrm>
          <a:prstGeom prst="ellipse">
            <a:avLst/>
          </a:prstGeom>
          <a:solidFill>
            <a:srgbClr val="0D6B66"/>
          </a:solidFill>
          <a:ln w="12700">
            <a:solidFill>
              <a:srgbClr val="0D6B6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0" y="281635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HTML/URL/email 제거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5468112" y="3319272"/>
            <a:ext cx="73152" cy="73152"/>
          </a:xfrm>
          <a:prstGeom prst="ellipse">
            <a:avLst/>
          </a:prstGeom>
          <a:solidFill>
            <a:srgbClr val="0D6B66"/>
          </a:solidFill>
          <a:ln w="12700">
            <a:solidFill>
              <a:srgbClr val="0D6B6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322783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도메인 불용어 관리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5468112" y="3730752"/>
            <a:ext cx="73152" cy="73152"/>
          </a:xfrm>
          <a:prstGeom prst="ellipse">
            <a:avLst/>
          </a:prstGeom>
          <a:solidFill>
            <a:srgbClr val="0D6B66"/>
          </a:solidFill>
          <a:ln w="12700">
            <a:solidFill>
              <a:srgbClr val="0D6B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0" y="363931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조건의 모델 비교 가능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9555480" y="1691640"/>
            <a:ext cx="1874520" cy="3063240"/>
          </a:xfrm>
          <a:prstGeom prst="rect">
            <a:avLst/>
          </a:prstGeom>
          <a:solidFill>
            <a:srgbClr val="FFFDF8"/>
          </a:solidFill>
          <a:ln w="11430">
            <a:solidFill>
              <a:srgbClr val="D7CB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55480" y="3150108"/>
            <a:ext cx="1874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IMAGE PLACEHOLDER · 16:9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9756648" y="1901952"/>
            <a:ext cx="14721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1B2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EDA chart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9756648" y="4370832"/>
            <a:ext cx="1472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category_distribution.png 또는 text_length_distribution.png</a:t>
            </a:r>
            <a:endParaRPr lang="en-US" sz="720" dirty="0"/>
          </a:p>
        </p:txBody>
      </p:sp>
      <p:sp>
        <p:nvSpPr>
          <p:cNvPr id="30" name="Shape 28"/>
          <p:cNvSpPr/>
          <p:nvPr/>
        </p:nvSpPr>
        <p:spPr>
          <a:xfrm>
            <a:off x="621792" y="6272784"/>
            <a:ext cx="10927080" cy="0"/>
          </a:xfrm>
          <a:prstGeom prst="line">
            <a:avLst/>
          </a:prstGeom>
          <a:noFill/>
          <a:ln w="8255">
            <a:solidFill>
              <a:srgbClr val="D7CBB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6428232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기본 표 대신 before/after 비교 구조로 데이터 품질 개선 논리를 명확히 표현</a:t>
            </a:r>
            <a:endParaRPr lang="en-US" sz="73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01400" y="4297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21792" y="411480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PROCESS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21792" y="7315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B2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전처리부터 평가까지 하나의 재현 가능한 파이프라인으로 구성했다.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77240" y="2057400"/>
            <a:ext cx="1737360" cy="1170432"/>
          </a:xfrm>
          <a:prstGeom prst="rect">
            <a:avLst/>
          </a:prstGeom>
          <a:solidFill>
            <a:srgbClr val="FFFDF8"/>
          </a:solidFill>
          <a:ln w="8255">
            <a:solidFill>
              <a:srgbClr val="D7CB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85416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914400" y="247802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51B2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EDA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914400" y="28437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분포·결측·길이 확인</a:t>
            </a:r>
            <a:endParaRPr lang="en-US" sz="780" dirty="0"/>
          </a:p>
        </p:txBody>
      </p:sp>
      <p:sp>
        <p:nvSpPr>
          <p:cNvPr id="10" name="Shape 8"/>
          <p:cNvSpPr/>
          <p:nvPr/>
        </p:nvSpPr>
        <p:spPr>
          <a:xfrm>
            <a:off x="2697480" y="2642616"/>
            <a:ext cx="502920" cy="0"/>
          </a:xfrm>
          <a:prstGeom prst="line">
            <a:avLst/>
          </a:prstGeom>
          <a:noFill/>
          <a:ln w="13970">
            <a:solidFill>
              <a:srgbClr val="B65A35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3337560" y="2057400"/>
            <a:ext cx="1737360" cy="1170432"/>
          </a:xfrm>
          <a:prstGeom prst="rect">
            <a:avLst/>
          </a:prstGeom>
          <a:solidFill>
            <a:srgbClr val="FFFDF8"/>
          </a:solidFill>
          <a:ln w="8255">
            <a:solidFill>
              <a:srgbClr val="D7CB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474720" y="2185416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74720" y="247802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51B2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Clean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474720" y="28437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본문 정규화와 중복 제거</a:t>
            </a:r>
            <a:endParaRPr lang="en-US" sz="780" dirty="0"/>
          </a:p>
        </p:txBody>
      </p:sp>
      <p:sp>
        <p:nvSpPr>
          <p:cNvPr id="15" name="Shape 13"/>
          <p:cNvSpPr/>
          <p:nvPr/>
        </p:nvSpPr>
        <p:spPr>
          <a:xfrm>
            <a:off x="5257800" y="2642616"/>
            <a:ext cx="502920" cy="0"/>
          </a:xfrm>
          <a:prstGeom prst="line">
            <a:avLst/>
          </a:prstGeom>
          <a:noFill/>
          <a:ln w="13970">
            <a:solidFill>
              <a:srgbClr val="B65A3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5897880" y="2057400"/>
            <a:ext cx="1737360" cy="1170432"/>
          </a:xfrm>
          <a:prstGeom prst="rect">
            <a:avLst/>
          </a:prstGeom>
          <a:solidFill>
            <a:srgbClr val="FFFDF8"/>
          </a:solidFill>
          <a:ln w="8255">
            <a:solidFill>
              <a:srgbClr val="D7CB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185416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6035040" y="247802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51B2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Model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035040" y="28437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baseline과 Transformer 학습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7818120" y="2642616"/>
            <a:ext cx="502920" cy="0"/>
          </a:xfrm>
          <a:prstGeom prst="line">
            <a:avLst/>
          </a:prstGeom>
          <a:noFill/>
          <a:ln w="13970">
            <a:solidFill>
              <a:srgbClr val="B65A35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458200" y="2057400"/>
            <a:ext cx="1737360" cy="1170432"/>
          </a:xfrm>
          <a:prstGeom prst="rect">
            <a:avLst/>
          </a:prstGeom>
          <a:solidFill>
            <a:srgbClr val="FFFDF8"/>
          </a:solidFill>
          <a:ln w="8255">
            <a:solidFill>
              <a:srgbClr val="D7CBB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595360" y="2185416"/>
            <a:ext cx="32004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8595360" y="2478024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51B2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Analyze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8595360" y="2843784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F1과 오분류 해석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1143000" y="4434840"/>
            <a:ext cx="8869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전처리는 </a:t>
            </a:r>
            <a:pPr indent="0" marL="0">
              <a:buNone/>
            </a:pPr>
            <a:r>
              <a:rPr lang="en-US" sz="1000" b="1" dirty="0">
                <a:solidFill>
                  <a:srgbClr val="B65A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HTML, URL, email, 특수문자</a:t>
            </a:r>
            <a:pPr indent="0" marL="0">
              <a:buNone/>
            </a:pPr>
            <a:r>
              <a:rPr lang="en-US" sz="100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제거하고, 청원 도메인 불용어를 줄여 모델이 실제 분류 신호에 집중하도록 설계했다.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1792" y="6272784"/>
            <a:ext cx="10927080" cy="0"/>
          </a:xfrm>
          <a:prstGeom prst="line">
            <a:avLst/>
          </a:prstGeom>
          <a:noFill/>
          <a:ln w="8255">
            <a:solidFill>
              <a:srgbClr val="D7CBB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" y="6428232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Each stage feeds into the next · preprocessing choices are recorded in code and report</a:t>
            </a:r>
            <a:endParaRPr lang="en-US" sz="73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01400" y="4297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21792" y="411480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METRICS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21792" y="7315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B2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전처리와 실험 통제는 수치로 검증 가능한 상태로 기록했다.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14400" y="1828800"/>
            <a:ext cx="2057400" cy="1325880"/>
          </a:xfrm>
          <a:prstGeom prst="rect">
            <a:avLst/>
          </a:prstGeom>
          <a:solidFill>
            <a:srgbClr val="FFFDF8"/>
          </a:solidFill>
          <a:ln w="8255">
            <a:solidFill>
              <a:srgbClr val="D7CB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8992" y="1993392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Clean train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1078992" y="2267712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39,272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078992" y="2770632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40,000 raw rows</a:t>
            </a:r>
            <a:endParaRPr lang="en-US" sz="770" dirty="0"/>
          </a:p>
        </p:txBody>
      </p:sp>
      <p:sp>
        <p:nvSpPr>
          <p:cNvPr id="10" name="Shape 8"/>
          <p:cNvSpPr/>
          <p:nvPr/>
        </p:nvSpPr>
        <p:spPr>
          <a:xfrm>
            <a:off x="3337560" y="1828800"/>
            <a:ext cx="2057400" cy="1325880"/>
          </a:xfrm>
          <a:prstGeom prst="rect">
            <a:avLst/>
          </a:prstGeom>
          <a:solidFill>
            <a:srgbClr val="FFFDF8"/>
          </a:solidFill>
          <a:ln w="8255">
            <a:solidFill>
              <a:srgbClr val="D7CB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02152" y="1993392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Mean length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3502152" y="2267712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65A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524.48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502152" y="2770632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B65A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 cleaning</a:t>
            </a:r>
            <a:endParaRPr lang="en-US" sz="770" dirty="0"/>
          </a:p>
        </p:txBody>
      </p:sp>
      <p:sp>
        <p:nvSpPr>
          <p:cNvPr id="14" name="Shape 12"/>
          <p:cNvSpPr/>
          <p:nvPr/>
        </p:nvSpPr>
        <p:spPr>
          <a:xfrm>
            <a:off x="5760720" y="1828800"/>
            <a:ext cx="2057400" cy="1325880"/>
          </a:xfrm>
          <a:prstGeom prst="rect">
            <a:avLst/>
          </a:prstGeom>
          <a:solidFill>
            <a:srgbClr val="FFFDF8"/>
          </a:solidFill>
          <a:ln w="8255">
            <a:solidFill>
              <a:srgbClr val="D7CB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25312" y="1993392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Vocabulary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5925312" y="2267712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6958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140,755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925312" y="2770632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6958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min_df/max_df selected</a:t>
            </a:r>
            <a:endParaRPr lang="en-US" sz="770" dirty="0"/>
          </a:p>
        </p:txBody>
      </p:sp>
      <p:sp>
        <p:nvSpPr>
          <p:cNvPr id="18" name="Shape 16"/>
          <p:cNvSpPr/>
          <p:nvPr/>
        </p:nvSpPr>
        <p:spPr>
          <a:xfrm>
            <a:off x="8183880" y="1828800"/>
            <a:ext cx="2057400" cy="1325880"/>
          </a:xfrm>
          <a:prstGeom prst="rect">
            <a:avLst/>
          </a:prstGeom>
          <a:solidFill>
            <a:srgbClr val="FFFDF8"/>
          </a:solidFill>
          <a:ln w="8255">
            <a:solidFill>
              <a:srgbClr val="D7CB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48472" y="1993392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Seed</a:t>
            </a:r>
            <a:endParaRPr lang="en-US" sz="820" dirty="0"/>
          </a:p>
        </p:txBody>
      </p:sp>
      <p:sp>
        <p:nvSpPr>
          <p:cNvPr id="20" name="Text 18"/>
          <p:cNvSpPr/>
          <p:nvPr/>
        </p:nvSpPr>
        <p:spPr>
          <a:xfrm>
            <a:off x="8348472" y="2267712"/>
            <a:ext cx="17282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5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348472" y="2770632"/>
            <a:ext cx="17282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E5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same split control</a:t>
            </a:r>
            <a:endParaRPr lang="en-US" sz="770" dirty="0"/>
          </a:p>
        </p:txBody>
      </p:sp>
      <p:sp>
        <p:nvSpPr>
          <p:cNvPr id="22" name="Shape 20"/>
          <p:cNvSpPr/>
          <p:nvPr/>
        </p:nvSpPr>
        <p:spPr>
          <a:xfrm>
            <a:off x="1234440" y="3886200"/>
            <a:ext cx="6903720" cy="347472"/>
          </a:xfrm>
          <a:prstGeom prst="rect">
            <a:avLst/>
          </a:prstGeom>
          <a:solidFill>
            <a:srgbClr val="10262D"/>
          </a:solidFill>
          <a:ln w="12700">
            <a:solidFill>
              <a:srgbClr val="10262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307592" y="3977640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parameter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2724912" y="3977640"/>
            <a:ext cx="950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value</a:t>
            </a:r>
            <a:endParaRPr lang="en-US" sz="780" dirty="0"/>
          </a:p>
        </p:txBody>
      </p:sp>
      <p:sp>
        <p:nvSpPr>
          <p:cNvPr id="25" name="Text 23"/>
          <p:cNvSpPr/>
          <p:nvPr/>
        </p:nvSpPr>
        <p:spPr>
          <a:xfrm>
            <a:off x="3822192" y="3977640"/>
            <a:ext cx="4242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reason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1234440" y="4233672"/>
            <a:ext cx="6903720" cy="347472"/>
          </a:xfrm>
          <a:prstGeom prst="rect">
            <a:avLst/>
          </a:prstGeom>
          <a:solidFill>
            <a:srgbClr val="DCECE7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07592" y="4325112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min_df</a:t>
            </a:r>
            <a:endParaRPr lang="en-US" sz="780" dirty="0"/>
          </a:p>
        </p:txBody>
      </p:sp>
      <p:sp>
        <p:nvSpPr>
          <p:cNvPr id="28" name="Text 26"/>
          <p:cNvSpPr/>
          <p:nvPr/>
        </p:nvSpPr>
        <p:spPr>
          <a:xfrm>
            <a:off x="2724912" y="4325112"/>
            <a:ext cx="950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780" dirty="0"/>
          </a:p>
        </p:txBody>
      </p:sp>
      <p:sp>
        <p:nvSpPr>
          <p:cNvPr id="29" name="Text 27"/>
          <p:cNvSpPr/>
          <p:nvPr/>
        </p:nvSpPr>
        <p:spPr>
          <a:xfrm>
            <a:off x="3822192" y="4325112"/>
            <a:ext cx="4242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희소 잡음 제거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1234440" y="4581144"/>
            <a:ext cx="6903720" cy="0"/>
          </a:xfrm>
          <a:prstGeom prst="line">
            <a:avLst/>
          </a:prstGeom>
          <a:noFill/>
          <a:ln w="6350">
            <a:solidFill>
              <a:srgbClr val="D7CBB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234440" y="4581144"/>
            <a:ext cx="6903720" cy="347472"/>
          </a:xfrm>
          <a:prstGeom prst="rect">
            <a:avLst/>
          </a:prstGeom>
          <a:solidFill>
            <a:srgbClr val="DCECE7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307592" y="4672584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max_df</a:t>
            </a:r>
            <a:endParaRPr lang="en-US" sz="780" dirty="0"/>
          </a:p>
        </p:txBody>
      </p:sp>
      <p:sp>
        <p:nvSpPr>
          <p:cNvPr id="33" name="Text 31"/>
          <p:cNvSpPr/>
          <p:nvPr/>
        </p:nvSpPr>
        <p:spPr>
          <a:xfrm>
            <a:off x="2724912" y="4672584"/>
            <a:ext cx="950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0.85</a:t>
            </a:r>
            <a:endParaRPr lang="en-US" sz="780" dirty="0"/>
          </a:p>
        </p:txBody>
      </p:sp>
      <p:sp>
        <p:nvSpPr>
          <p:cNvPr id="34" name="Text 32"/>
          <p:cNvSpPr/>
          <p:nvPr/>
        </p:nvSpPr>
        <p:spPr>
          <a:xfrm>
            <a:off x="3822192" y="4672584"/>
            <a:ext cx="4242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b="1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범용 표현 제거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1234440" y="4928616"/>
            <a:ext cx="6903720" cy="0"/>
          </a:xfrm>
          <a:prstGeom prst="line">
            <a:avLst/>
          </a:prstGeom>
          <a:noFill/>
          <a:ln w="6350">
            <a:solidFill>
              <a:srgbClr val="D7CBB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234440" y="4928616"/>
            <a:ext cx="6903720" cy="347472"/>
          </a:xfrm>
          <a:prstGeom prst="rect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1307592" y="5020056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</a:t>
            </a:r>
            <a:endParaRPr lang="en-US" sz="780" dirty="0"/>
          </a:p>
        </p:txBody>
      </p:sp>
      <p:sp>
        <p:nvSpPr>
          <p:cNvPr id="38" name="Text 36"/>
          <p:cNvSpPr/>
          <p:nvPr/>
        </p:nvSpPr>
        <p:spPr>
          <a:xfrm>
            <a:off x="2724912" y="5020056"/>
            <a:ext cx="950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70/15/15</a:t>
            </a:r>
            <a:endParaRPr lang="en-US" sz="780" dirty="0"/>
          </a:p>
        </p:txBody>
      </p:sp>
      <p:sp>
        <p:nvSpPr>
          <p:cNvPr id="39" name="Text 37"/>
          <p:cNvSpPr/>
          <p:nvPr/>
        </p:nvSpPr>
        <p:spPr>
          <a:xfrm>
            <a:off x="3822192" y="5020056"/>
            <a:ext cx="4242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공정 비교</a:t>
            </a:r>
            <a:endParaRPr lang="en-US" sz="780" dirty="0"/>
          </a:p>
        </p:txBody>
      </p:sp>
      <p:sp>
        <p:nvSpPr>
          <p:cNvPr id="40" name="Shape 38"/>
          <p:cNvSpPr/>
          <p:nvPr/>
        </p:nvSpPr>
        <p:spPr>
          <a:xfrm>
            <a:off x="1234440" y="5276088"/>
            <a:ext cx="6903720" cy="0"/>
          </a:xfrm>
          <a:prstGeom prst="line">
            <a:avLst/>
          </a:prstGeom>
          <a:noFill/>
          <a:ln w="6350">
            <a:solidFill>
              <a:srgbClr val="D7CBB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34440" y="5276088"/>
            <a:ext cx="6903720" cy="347472"/>
          </a:xfrm>
          <a:prstGeom prst="rect">
            <a:avLst/>
          </a:prstGeom>
          <a:solidFill>
            <a:srgbClr val="FFFDF8"/>
          </a:solidFill>
          <a:ln w="12700">
            <a:solidFill>
              <a:srgbClr val="FFFDF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307592" y="5367528"/>
            <a:ext cx="12710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metric</a:t>
            </a:r>
            <a:endParaRPr lang="en-US" sz="780" dirty="0"/>
          </a:p>
        </p:txBody>
      </p:sp>
      <p:sp>
        <p:nvSpPr>
          <p:cNvPr id="43" name="Text 41"/>
          <p:cNvSpPr/>
          <p:nvPr/>
        </p:nvSpPr>
        <p:spPr>
          <a:xfrm>
            <a:off x="2724912" y="5367528"/>
            <a:ext cx="9509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macro F1</a:t>
            </a:r>
            <a:endParaRPr lang="en-US" sz="780" dirty="0"/>
          </a:p>
        </p:txBody>
      </p:sp>
      <p:sp>
        <p:nvSpPr>
          <p:cNvPr id="44" name="Text 42"/>
          <p:cNvSpPr/>
          <p:nvPr/>
        </p:nvSpPr>
        <p:spPr>
          <a:xfrm>
            <a:off x="3822192" y="5367528"/>
            <a:ext cx="424281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균형 평가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1234440" y="5623560"/>
            <a:ext cx="6903720" cy="0"/>
          </a:xfrm>
          <a:prstGeom prst="line">
            <a:avLst/>
          </a:prstGeom>
          <a:noFill/>
          <a:ln w="6350">
            <a:solidFill>
              <a:srgbClr val="D7CBB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1792" y="6272784"/>
            <a:ext cx="10927080" cy="0"/>
          </a:xfrm>
          <a:prstGeom prst="line">
            <a:avLst/>
          </a:prstGeom>
          <a:noFill/>
          <a:ln w="8255">
            <a:solidFill>
              <a:srgbClr val="D7CBB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1792" y="6428232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교수님 질문 대비: 파라미터 선택 이유를 코드와 보고서의 같은 수치로 설명</a:t>
            </a:r>
            <a:endParaRPr lang="en-US" sz="73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01400" y="4297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21792" y="411480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VISUALIZATION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21792" y="7315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B2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모델 비교는 baseline에서 Transformer로 이어지는 성능 개선을 보여준다.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960120" y="4617720"/>
            <a:ext cx="4572000" cy="0"/>
          </a:xfrm>
          <a:prstGeom prst="line">
            <a:avLst/>
          </a:prstGeom>
          <a:noFill/>
          <a:ln w="8255">
            <a:solidFill>
              <a:srgbClr val="D7CB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4764024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TF-IDF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850392" y="2316026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0.7934</a:t>
            </a:r>
            <a:endParaRPr lang="en-US" sz="730" dirty="0"/>
          </a:p>
        </p:txBody>
      </p:sp>
      <p:sp>
        <p:nvSpPr>
          <p:cNvPr id="9" name="Shape 7"/>
          <p:cNvSpPr/>
          <p:nvPr/>
        </p:nvSpPr>
        <p:spPr>
          <a:xfrm>
            <a:off x="960120" y="2608634"/>
            <a:ext cx="475488" cy="2009086"/>
          </a:xfrm>
          <a:prstGeom prst="rect">
            <a:avLst/>
          </a:prstGeom>
          <a:solidFill>
            <a:srgbClr val="0D6B66"/>
          </a:solidFill>
          <a:ln w="12700">
            <a:solidFill>
              <a:srgbClr val="0D6B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44368" y="4764024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LSTM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898648" y="2501640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B65A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0.7201</a:t>
            </a:r>
            <a:endParaRPr lang="en-US" sz="730" dirty="0"/>
          </a:p>
        </p:txBody>
      </p:sp>
      <p:sp>
        <p:nvSpPr>
          <p:cNvPr id="12" name="Shape 10"/>
          <p:cNvSpPr/>
          <p:nvPr/>
        </p:nvSpPr>
        <p:spPr>
          <a:xfrm>
            <a:off x="3008376" y="2794248"/>
            <a:ext cx="475488" cy="1823472"/>
          </a:xfrm>
          <a:prstGeom prst="rect">
            <a:avLst/>
          </a:prstGeom>
          <a:solidFill>
            <a:srgbClr val="B65A35"/>
          </a:solidFill>
          <a:ln w="12700">
            <a:solidFill>
              <a:srgbClr val="B65A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92624" y="4764024"/>
            <a:ext cx="603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Transformer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946904" y="2084832"/>
            <a:ext cx="6949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6958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0.8847</a:t>
            </a:r>
            <a:endParaRPr lang="en-US" sz="730" dirty="0"/>
          </a:p>
        </p:txBody>
      </p:sp>
      <p:sp>
        <p:nvSpPr>
          <p:cNvPr id="15" name="Shape 13"/>
          <p:cNvSpPr/>
          <p:nvPr/>
        </p:nvSpPr>
        <p:spPr>
          <a:xfrm>
            <a:off x="5056632" y="2377440"/>
            <a:ext cx="475488" cy="2240280"/>
          </a:xfrm>
          <a:prstGeom prst="rect">
            <a:avLst/>
          </a:prstGeom>
          <a:solidFill>
            <a:srgbClr val="6958A8"/>
          </a:solidFill>
          <a:ln w="12700">
            <a:solidFill>
              <a:srgbClr val="6958A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92240" y="1645920"/>
            <a:ext cx="1737360" cy="1170432"/>
          </a:xfrm>
          <a:prstGeom prst="rect">
            <a:avLst/>
          </a:prstGeom>
          <a:solidFill>
            <a:srgbClr val="FFFDF8"/>
          </a:solidFill>
          <a:ln w="8255">
            <a:solidFill>
              <a:srgbClr val="D7CB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1810512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 F1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6656832" y="208483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6958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0.8847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656832" y="2587752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6958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target achieved</a:t>
            </a:r>
            <a:endParaRPr lang="en-US" sz="770" dirty="0"/>
          </a:p>
        </p:txBody>
      </p:sp>
      <p:sp>
        <p:nvSpPr>
          <p:cNvPr id="20" name="Shape 18"/>
          <p:cNvSpPr/>
          <p:nvPr/>
        </p:nvSpPr>
        <p:spPr>
          <a:xfrm>
            <a:off x="8549640" y="1645920"/>
            <a:ext cx="1737360" cy="1170432"/>
          </a:xfrm>
          <a:prstGeom prst="rect">
            <a:avLst/>
          </a:prstGeom>
          <a:solidFill>
            <a:srgbClr val="FFFDF8"/>
          </a:solidFill>
          <a:ln w="8255">
            <a:solidFill>
              <a:srgbClr val="D7CBB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14232" y="1810512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 baseline</a:t>
            </a:r>
            <a:endParaRPr lang="en-US" sz="820" dirty="0"/>
          </a:p>
        </p:txBody>
      </p:sp>
      <p:sp>
        <p:nvSpPr>
          <p:cNvPr id="22" name="Text 20"/>
          <p:cNvSpPr/>
          <p:nvPr/>
        </p:nvSpPr>
        <p:spPr>
          <a:xfrm>
            <a:off x="8714232" y="208483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B65A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+0.0912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8714232" y="2587752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B65A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best baseline</a:t>
            </a:r>
            <a:endParaRPr lang="en-US" sz="770" dirty="0"/>
          </a:p>
        </p:txBody>
      </p:sp>
      <p:sp>
        <p:nvSpPr>
          <p:cNvPr id="24" name="Shape 22"/>
          <p:cNvSpPr/>
          <p:nvPr/>
        </p:nvSpPr>
        <p:spPr>
          <a:xfrm>
            <a:off x="6492240" y="3154680"/>
            <a:ext cx="1737360" cy="1170432"/>
          </a:xfrm>
          <a:prstGeom prst="rect">
            <a:avLst/>
          </a:prstGeom>
          <a:solidFill>
            <a:srgbClr val="FFFDF8"/>
          </a:solidFill>
          <a:ln w="8255">
            <a:solidFill>
              <a:srgbClr val="D7CB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56832" y="3319272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 LSTM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6656832" y="359359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+0.1646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656832" y="4096512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sequence model</a:t>
            </a:r>
            <a:endParaRPr lang="en-US" sz="770" dirty="0"/>
          </a:p>
        </p:txBody>
      </p:sp>
      <p:sp>
        <p:nvSpPr>
          <p:cNvPr id="28" name="Shape 26"/>
          <p:cNvSpPr/>
          <p:nvPr/>
        </p:nvSpPr>
        <p:spPr>
          <a:xfrm>
            <a:off x="8549640" y="3154680"/>
            <a:ext cx="1737360" cy="1170432"/>
          </a:xfrm>
          <a:prstGeom prst="rect">
            <a:avLst/>
          </a:prstGeom>
          <a:solidFill>
            <a:srgbClr val="FFFDF8"/>
          </a:solidFill>
          <a:ln w="8255">
            <a:solidFill>
              <a:srgbClr val="D7CB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714232" y="3319272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Runtime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8714232" y="3593592"/>
            <a:ext cx="14081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5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427s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8714232" y="4096512"/>
            <a:ext cx="14081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E5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CUDA run</a:t>
            </a:r>
            <a:endParaRPr lang="en-US" sz="770" dirty="0"/>
          </a:p>
        </p:txBody>
      </p:sp>
      <p:sp>
        <p:nvSpPr>
          <p:cNvPr id="32" name="Shape 30"/>
          <p:cNvSpPr/>
          <p:nvPr/>
        </p:nvSpPr>
        <p:spPr>
          <a:xfrm>
            <a:off x="621792" y="6272784"/>
            <a:ext cx="10927080" cy="0"/>
          </a:xfrm>
          <a:prstGeom prst="line">
            <a:avLst/>
          </a:prstGeom>
          <a:noFill/>
          <a:ln w="8255">
            <a:solidFill>
              <a:srgbClr val="D7CBB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792" y="6428232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Green/Rust/Violet 색상 체계를 모델 비교 전반에 일관되게 적용</a:t>
            </a:r>
            <a:endParaRPr lang="en-US" sz="73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01400" y="4297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21792" y="411480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DISTRIBUTION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21792" y="7315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B2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오분류는 특정 모델 오류보다 사회정책 의미가 겹치는 라벨 경계에서 발생했다.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1874520"/>
            <a:ext cx="1965960" cy="1965960"/>
          </a:xfrm>
          <a:prstGeom prst="arc">
            <a:avLst/>
          </a:prstGeom>
          <a:noFill/>
          <a:ln w="152400">
            <a:solidFill>
              <a:srgbClr val="0D6B6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61288" y="1892808"/>
            <a:ext cx="1929384" cy="1929384"/>
          </a:xfrm>
          <a:prstGeom prst="arc">
            <a:avLst/>
          </a:prstGeom>
          <a:noFill/>
          <a:ln w="152400">
            <a:solidFill>
              <a:srgbClr val="B65A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79576" y="1911096"/>
            <a:ext cx="1892808" cy="1892808"/>
          </a:xfrm>
          <a:prstGeom prst="arc">
            <a:avLst/>
          </a:prstGeom>
          <a:noFill/>
          <a:ln w="152400">
            <a:solidFill>
              <a:srgbClr val="6958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36776" y="2368296"/>
            <a:ext cx="978408" cy="978408"/>
          </a:xfrm>
          <a:prstGeom prst="ellipse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18488" y="262432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679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45920" y="2862072"/>
            <a:ext cx="960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major errors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4114800" y="1883664"/>
            <a:ext cx="128016" cy="128016"/>
          </a:xfrm>
          <a:prstGeom prst="rect">
            <a:avLst/>
          </a:prstGeom>
          <a:solidFill>
            <a:srgbClr val="0D6B66"/>
          </a:solidFill>
          <a:ln w="12700">
            <a:solidFill>
              <a:srgbClr val="0D6B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70832" y="1828800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육아/교육 → 건강/복지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7863840" y="1828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230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8641080" y="1828800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11.69%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4114800" y="2596896"/>
            <a:ext cx="128016" cy="128016"/>
          </a:xfrm>
          <a:prstGeom prst="rect">
            <a:avLst/>
          </a:prstGeom>
          <a:solidFill>
            <a:srgbClr val="B65A35"/>
          </a:solidFill>
          <a:ln w="12700">
            <a:solidFill>
              <a:srgbClr val="B65A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70832" y="2542032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건강/복지 → 문화/언론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7863840" y="25420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B65A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141</a:t>
            </a:r>
            <a:endParaRPr lang="en-US" sz="870" dirty="0"/>
          </a:p>
        </p:txBody>
      </p:sp>
      <p:sp>
        <p:nvSpPr>
          <p:cNvPr id="19" name="Text 17"/>
          <p:cNvSpPr/>
          <p:nvPr/>
        </p:nvSpPr>
        <p:spPr>
          <a:xfrm>
            <a:off x="8641080" y="2542032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B65A3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7.25%</a:t>
            </a:r>
            <a:endParaRPr lang="en-US" sz="870" dirty="0"/>
          </a:p>
        </p:txBody>
      </p:sp>
      <p:sp>
        <p:nvSpPr>
          <p:cNvPr id="20" name="Shape 18"/>
          <p:cNvSpPr/>
          <p:nvPr/>
        </p:nvSpPr>
        <p:spPr>
          <a:xfrm>
            <a:off x="4114800" y="3310128"/>
            <a:ext cx="128016" cy="128016"/>
          </a:xfrm>
          <a:prstGeom prst="rect">
            <a:avLst/>
          </a:prstGeom>
          <a:solidFill>
            <a:srgbClr val="6958A8"/>
          </a:solidFill>
          <a:ln w="12700">
            <a:solidFill>
              <a:srgbClr val="6958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370832" y="3255264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건강/복지 → 육아/교육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863840" y="325526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6958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106</a:t>
            </a:r>
            <a:endParaRPr lang="en-US" sz="870" dirty="0"/>
          </a:p>
        </p:txBody>
      </p:sp>
      <p:sp>
        <p:nvSpPr>
          <p:cNvPr id="23" name="Text 21"/>
          <p:cNvSpPr/>
          <p:nvPr/>
        </p:nvSpPr>
        <p:spPr>
          <a:xfrm>
            <a:off x="8641080" y="3255264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70" b="1" dirty="0">
                <a:solidFill>
                  <a:srgbClr val="6958A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5.45%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4114800" y="4343400"/>
            <a:ext cx="5440680" cy="1051560"/>
          </a:xfrm>
          <a:prstGeom prst="rect">
            <a:avLst/>
          </a:prstGeom>
          <a:solidFill>
            <a:srgbClr val="FFFDF8"/>
          </a:solidFill>
          <a:ln w="11430">
            <a:solidFill>
              <a:srgbClr val="D7CBB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0" y="4796028"/>
            <a:ext cx="5440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IMAGE PLACEHOLDER · 16:9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315968" y="4553712"/>
            <a:ext cx="5038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1B2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Confusion Matrix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315968" y="5010912"/>
            <a:ext cx="50383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kobert_confusion_matrix.png</a:t>
            </a:r>
            <a:endParaRPr lang="en-US" sz="720" dirty="0"/>
          </a:p>
        </p:txBody>
      </p:sp>
      <p:sp>
        <p:nvSpPr>
          <p:cNvPr id="28" name="Shape 26"/>
          <p:cNvSpPr/>
          <p:nvPr/>
        </p:nvSpPr>
        <p:spPr>
          <a:xfrm>
            <a:off x="621792" y="6272784"/>
            <a:ext cx="10927080" cy="0"/>
          </a:xfrm>
          <a:prstGeom prst="line">
            <a:avLst/>
          </a:prstGeom>
          <a:noFill/>
          <a:ln w="8255">
            <a:solidFill>
              <a:srgbClr val="D7CBB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21792" y="6428232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오분류 분석은 후속 개선 방향인 문단 앙상블과 계층형 분류로 연결</a:t>
            </a:r>
            <a:endParaRPr lang="en-US" sz="73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01400" y="4297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21792" y="411480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IMPLEMENTATION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21792" y="7315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B2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발표에서 보여줄 핵심 코드는 전처리, 실험 통제, Transformer 학습이다.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22960" y="1600200"/>
            <a:ext cx="3246120" cy="4160520"/>
          </a:xfrm>
          <a:prstGeom prst="rect">
            <a:avLst/>
          </a:prstGeom>
          <a:solidFill>
            <a:srgbClr val="0E1D22"/>
          </a:solidFill>
          <a:ln w="10795">
            <a:solidFill>
              <a:srgbClr val="284149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00200"/>
            <a:ext cx="3246120" cy="384048"/>
          </a:xfrm>
          <a:prstGeom prst="rect">
            <a:avLst/>
          </a:prstGeom>
          <a:solidFill>
            <a:srgbClr val="17313A"/>
          </a:solidFill>
          <a:ln w="12700">
            <a:solidFill>
              <a:srgbClr val="1731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87552" y="1746504"/>
            <a:ext cx="64008" cy="64008"/>
          </a:xfrm>
          <a:prstGeom prst="ellipse">
            <a:avLst/>
          </a:prstGeom>
          <a:solidFill>
            <a:srgbClr val="B65A35"/>
          </a:solidFill>
          <a:ln w="12700">
            <a:solidFill>
              <a:srgbClr val="B65A3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2144" y="1746504"/>
            <a:ext cx="64008" cy="64008"/>
          </a:xfrm>
          <a:prstGeom prst="ellipse">
            <a:avLst/>
          </a:prstGeom>
          <a:solidFill>
            <a:srgbClr val="E5A84C"/>
          </a:solidFill>
          <a:ln w="12700">
            <a:solidFill>
              <a:srgbClr val="E5A84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16736" y="1746504"/>
            <a:ext cx="64008" cy="64008"/>
          </a:xfrm>
          <a:prstGeom prst="ellipse">
            <a:avLst/>
          </a:prstGeom>
          <a:solidFill>
            <a:srgbClr val="0D6B66"/>
          </a:solidFill>
          <a:ln w="12700">
            <a:solidFill>
              <a:srgbClr val="0D6B6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08760" y="171907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BFD5D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preprocess.py</a:t>
            </a:r>
            <a:endParaRPr lang="en-US" sz="730" dirty="0"/>
          </a:p>
        </p:txBody>
      </p:sp>
      <p:sp>
        <p:nvSpPr>
          <p:cNvPr id="12" name="Text 10"/>
          <p:cNvSpPr/>
          <p:nvPr/>
        </p:nvSpPr>
        <p:spPr>
          <a:xfrm>
            <a:off x="1024128" y="2130552"/>
            <a:ext cx="2843784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def normalize_text(value):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text = html.unescape(str(value))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text = re.sub(r"&lt;[^&gt;]+&gt;", " ", text)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text = re.sub(r"https?://\S+", " ", text)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text = re.sub(r"[^0-9A-Za-z가-힣\s]", " ", text)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return re.sub(r"\s+", " ", text).strip()</a:t>
            </a:r>
            <a:endParaRPr lang="en-US" sz="680" dirty="0"/>
          </a:p>
        </p:txBody>
      </p:sp>
      <p:sp>
        <p:nvSpPr>
          <p:cNvPr id="13" name="Shape 11"/>
          <p:cNvSpPr/>
          <p:nvPr/>
        </p:nvSpPr>
        <p:spPr>
          <a:xfrm>
            <a:off x="4480560" y="1600200"/>
            <a:ext cx="2834640" cy="4160520"/>
          </a:xfrm>
          <a:prstGeom prst="rect">
            <a:avLst/>
          </a:prstGeom>
          <a:solidFill>
            <a:srgbClr val="0E1D22"/>
          </a:solidFill>
          <a:ln w="10795">
            <a:solidFill>
              <a:srgbClr val="28414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80560" y="1600200"/>
            <a:ext cx="2834640" cy="384048"/>
          </a:xfrm>
          <a:prstGeom prst="rect">
            <a:avLst/>
          </a:prstGeom>
          <a:solidFill>
            <a:srgbClr val="17313A"/>
          </a:solidFill>
          <a:ln w="12700">
            <a:solidFill>
              <a:srgbClr val="1731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45152" y="1746504"/>
            <a:ext cx="64008" cy="64008"/>
          </a:xfrm>
          <a:prstGeom prst="ellipse">
            <a:avLst/>
          </a:prstGeom>
          <a:solidFill>
            <a:srgbClr val="B65A35"/>
          </a:solidFill>
          <a:ln w="12700">
            <a:solidFill>
              <a:srgbClr val="B65A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09744" y="1746504"/>
            <a:ext cx="64008" cy="64008"/>
          </a:xfrm>
          <a:prstGeom prst="ellipse">
            <a:avLst/>
          </a:prstGeom>
          <a:solidFill>
            <a:srgbClr val="E5A84C"/>
          </a:solidFill>
          <a:ln w="12700">
            <a:solidFill>
              <a:srgbClr val="E5A84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974336" y="1746504"/>
            <a:ext cx="64008" cy="64008"/>
          </a:xfrm>
          <a:prstGeom prst="ellipse">
            <a:avLst/>
          </a:prstGeom>
          <a:solidFill>
            <a:srgbClr val="0D6B66"/>
          </a:solidFill>
          <a:ln w="12700">
            <a:solidFill>
              <a:srgbClr val="0D6B6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171907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BFD5D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</a:t>
            </a:r>
            <a:endParaRPr lang="en-US" sz="730" dirty="0"/>
          </a:p>
        </p:txBody>
      </p:sp>
      <p:sp>
        <p:nvSpPr>
          <p:cNvPr id="19" name="Text 17"/>
          <p:cNvSpPr/>
          <p:nvPr/>
        </p:nvSpPr>
        <p:spPr>
          <a:xfrm>
            <a:off x="4681728" y="2130552"/>
            <a:ext cx="2432304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class SplitConfig: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seed = 42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train_ratio = 0.70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valid_ratio = 0.15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test_ratio = 0.15</a:t>
            </a:r>
            <a:endParaRPr lang="en-US" sz="680" dirty="0"/>
          </a:p>
          <a:p>
            <a:pPr indent="0" marL="0">
              <a:buNone/>
            </a:pP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min_df = 3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max_df = 0.85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7726680" y="1600200"/>
            <a:ext cx="3246120" cy="4160520"/>
          </a:xfrm>
          <a:prstGeom prst="rect">
            <a:avLst/>
          </a:prstGeom>
          <a:solidFill>
            <a:srgbClr val="0E1D22"/>
          </a:solidFill>
          <a:ln w="10795">
            <a:solidFill>
              <a:srgbClr val="28414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26680" y="1600200"/>
            <a:ext cx="3246120" cy="384048"/>
          </a:xfrm>
          <a:prstGeom prst="rect">
            <a:avLst/>
          </a:prstGeom>
          <a:solidFill>
            <a:srgbClr val="17313A"/>
          </a:solidFill>
          <a:ln w="12700">
            <a:solidFill>
              <a:srgbClr val="17313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891272" y="1746504"/>
            <a:ext cx="64008" cy="64008"/>
          </a:xfrm>
          <a:prstGeom prst="ellipse">
            <a:avLst/>
          </a:prstGeom>
          <a:solidFill>
            <a:srgbClr val="B65A35"/>
          </a:solidFill>
          <a:ln w="12700">
            <a:solidFill>
              <a:srgbClr val="B65A3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55864" y="1746504"/>
            <a:ext cx="64008" cy="64008"/>
          </a:xfrm>
          <a:prstGeom prst="ellipse">
            <a:avLst/>
          </a:prstGeom>
          <a:solidFill>
            <a:srgbClr val="E5A84C"/>
          </a:solidFill>
          <a:ln w="12700">
            <a:solidFill>
              <a:srgbClr val="E5A84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0456" y="1746504"/>
            <a:ext cx="64008" cy="64008"/>
          </a:xfrm>
          <a:prstGeom prst="ellipse">
            <a:avLst/>
          </a:prstGeom>
          <a:solidFill>
            <a:srgbClr val="0D6B66"/>
          </a:solidFill>
          <a:ln w="12700">
            <a:solidFill>
              <a:srgbClr val="0D6B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0" y="1719072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BFD5D2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train_kobert.py</a:t>
            </a:r>
            <a:endParaRPr lang="en-US" sz="730" dirty="0"/>
          </a:p>
        </p:txBody>
      </p:sp>
      <p:sp>
        <p:nvSpPr>
          <p:cNvPr id="26" name="Text 24"/>
          <p:cNvSpPr/>
          <p:nvPr/>
        </p:nvSpPr>
        <p:spPr>
          <a:xfrm>
            <a:off x="7927848" y="2130552"/>
            <a:ext cx="2843784" cy="34838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tokenizer = AutoTokenizer.from_pretrained(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"klue/roberta-small"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model = AutoModelForSequenceClassification.from_pretrained(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config.model_name,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num_labels=len(LABELS)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optimizer = torch.optim.AdamW(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    model.parameters(), lr=2e-5</a:t>
            </a:r>
            <a:endParaRPr lang="en-US" sz="680" dirty="0"/>
          </a:p>
          <a:p>
            <a:pPr indent="0" marL="0">
              <a:buNone/>
            </a:pPr>
            <a:r>
              <a:rPr lang="en-US" sz="680" dirty="0">
                <a:solidFill>
                  <a:srgbClr val="EAF3F1"/>
                </a:solidFill>
                <a:latin typeface="Cascadia Code" pitchFamily="34" charset="0"/>
                <a:ea typeface="Cascadia Code" pitchFamily="34" charset="-122"/>
                <a:cs typeface="Cascadia Code" pitchFamily="34" charset="-120"/>
              </a:rPr>
              <a:t>)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EA"/>
          </a:solidFill>
          <a:ln w="12700">
            <a:solidFill>
              <a:srgbClr val="F7F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01400" y="4297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21792" y="411480"/>
            <a:ext cx="2194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MEDIA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21792" y="73152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51B2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Canva에서는 차트와 코드 캡처를 placeholder에 삽입해 완성도를 높인다.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77240" y="1554480"/>
            <a:ext cx="3246120" cy="1965960"/>
          </a:xfrm>
          <a:prstGeom prst="rect">
            <a:avLst/>
          </a:prstGeom>
          <a:solidFill>
            <a:srgbClr val="FFFDF8"/>
          </a:solidFill>
          <a:ln w="11430">
            <a:solidFill>
              <a:srgbClr val="D7CB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46430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IMAGE PLACEHOLDER · 16:9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78408" y="1764792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1B2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성능 비교 차트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78408" y="3136392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final_macro_f1_comparison.png</a:t>
            </a:r>
            <a:endParaRPr lang="en-US" sz="720" dirty="0"/>
          </a:p>
        </p:txBody>
      </p:sp>
      <p:sp>
        <p:nvSpPr>
          <p:cNvPr id="10" name="Shape 8"/>
          <p:cNvSpPr/>
          <p:nvPr/>
        </p:nvSpPr>
        <p:spPr>
          <a:xfrm>
            <a:off x="4480560" y="1554480"/>
            <a:ext cx="3246120" cy="1965960"/>
          </a:xfrm>
          <a:prstGeom prst="rect">
            <a:avLst/>
          </a:prstGeom>
          <a:solidFill>
            <a:srgbClr val="FFFDF8"/>
          </a:solidFill>
          <a:ln w="11430">
            <a:solidFill>
              <a:srgbClr val="D7CB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0" y="246430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IMAGE PLACEHOLDER · 16:9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681728" y="1764792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1B2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Confusion Matrix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81728" y="3136392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kobert_confusion_matrix.png</a:t>
            </a:r>
            <a:endParaRPr lang="en-US" sz="720" dirty="0"/>
          </a:p>
        </p:txBody>
      </p:sp>
      <p:sp>
        <p:nvSpPr>
          <p:cNvPr id="14" name="Shape 12"/>
          <p:cNvSpPr/>
          <p:nvPr/>
        </p:nvSpPr>
        <p:spPr>
          <a:xfrm>
            <a:off x="8183880" y="1554480"/>
            <a:ext cx="3246120" cy="1965960"/>
          </a:xfrm>
          <a:prstGeom prst="rect">
            <a:avLst/>
          </a:prstGeom>
          <a:solidFill>
            <a:srgbClr val="FFFDF8"/>
          </a:solidFill>
          <a:ln w="11430">
            <a:solidFill>
              <a:srgbClr val="D7CB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83880" y="2464308"/>
            <a:ext cx="3246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IMAGE PLACEHOLDER · 16:9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8385048" y="1764792"/>
            <a:ext cx="284378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151B20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토큰 비교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85048" y="3136392"/>
            <a:ext cx="2843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top_tokens_before/after_stopwords.png</a:t>
            </a:r>
            <a:endParaRPr lang="en-US" sz="720" dirty="0"/>
          </a:p>
        </p:txBody>
      </p:sp>
      <p:sp>
        <p:nvSpPr>
          <p:cNvPr id="18" name="Text 16"/>
          <p:cNvSpPr/>
          <p:nvPr/>
        </p:nvSpPr>
        <p:spPr>
          <a:xfrm>
            <a:off x="1097280" y="4389120"/>
            <a:ext cx="8869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이미지는 Canva에서 직접 삽입한다. </a:t>
            </a:r>
            <a:pPr indent="0" marL="0">
              <a:buNone/>
            </a:pPr>
            <a:r>
              <a:rPr lang="en-US" sz="1100" b="1" dirty="0">
                <a:solidFill>
                  <a:srgbClr val="0D6B6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PPT는 구조와 위치를 먼저 고정</a:t>
            </a:r>
            <a:pPr indent="0" marL="0">
              <a:buNone/>
            </a:pPr>
            <a:r>
              <a:rPr lang="en-US" sz="1100" dirty="0">
                <a:solidFill>
                  <a:srgbClr val="151B2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하고, 차트와 코드 캡처는 발표 직전 품질을 확인해 교체한다.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" y="6272784"/>
            <a:ext cx="10927080" cy="0"/>
          </a:xfrm>
          <a:prstGeom prst="line">
            <a:avLst/>
          </a:prstGeom>
          <a:noFill/>
          <a:ln w="8255">
            <a:solidFill>
              <a:srgbClr val="D7CB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" y="6428232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Replace placeholders with charts, dashboards, code screenshots, or final Canva exports</a:t>
            </a:r>
            <a:endParaRPr lang="en-US" sz="73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62D"/>
          </a:solidFill>
          <a:ln w="12700">
            <a:solidFill>
              <a:srgbClr val="1026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201400" y="429768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B7CC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621792" y="841248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E5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THANK YOU</a:t>
            </a:r>
            <a:endParaRPr lang="en-US" sz="820" dirty="0"/>
          </a:p>
        </p:txBody>
      </p:sp>
      <p:sp>
        <p:nvSpPr>
          <p:cNvPr id="5" name="Text 3"/>
          <p:cNvSpPr/>
          <p:nvPr/>
        </p:nvSpPr>
        <p:spPr>
          <a:xfrm>
            <a:off x="621792" y="1508760"/>
            <a:ext cx="6492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높은 점수 하나가 아니라,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왜 그 결과가 나왔는지 설명 가능한 구조를 만들었다.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3794760"/>
            <a:ext cx="1691640" cy="1097280"/>
          </a:xfrm>
          <a:prstGeom prst="rect">
            <a:avLst/>
          </a:prstGeom>
          <a:solidFill>
            <a:srgbClr val="FFFDF8"/>
          </a:solidFill>
          <a:ln w="8255">
            <a:solidFill>
              <a:srgbClr val="D7CB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3959352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 F1</a:t>
            </a:r>
            <a:endParaRPr lang="en-US" sz="820" dirty="0"/>
          </a:p>
        </p:txBody>
      </p:sp>
      <p:sp>
        <p:nvSpPr>
          <p:cNvPr id="8" name="Text 6"/>
          <p:cNvSpPr/>
          <p:nvPr/>
        </p:nvSpPr>
        <p:spPr>
          <a:xfrm>
            <a:off x="896112" y="4233672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5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0.8847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896112" y="4736592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E5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goal achieved</a:t>
            </a:r>
            <a:endParaRPr lang="en-US" sz="770" dirty="0"/>
          </a:p>
        </p:txBody>
      </p:sp>
      <p:sp>
        <p:nvSpPr>
          <p:cNvPr id="10" name="Shape 8"/>
          <p:cNvSpPr/>
          <p:nvPr/>
        </p:nvSpPr>
        <p:spPr>
          <a:xfrm>
            <a:off x="2697480" y="3794760"/>
            <a:ext cx="1691640" cy="1097280"/>
          </a:xfrm>
          <a:prstGeom prst="rect">
            <a:avLst/>
          </a:prstGeom>
          <a:solidFill>
            <a:srgbClr val="FFFDF8"/>
          </a:solidFill>
          <a:ln w="8255">
            <a:solidFill>
              <a:srgbClr val="D7CB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62072" y="3959352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</a:t>
            </a:r>
            <a:endParaRPr lang="en-US" sz="820" dirty="0"/>
          </a:p>
        </p:txBody>
      </p:sp>
      <p:sp>
        <p:nvSpPr>
          <p:cNvPr id="12" name="Text 10"/>
          <p:cNvSpPr/>
          <p:nvPr/>
        </p:nvSpPr>
        <p:spPr>
          <a:xfrm>
            <a:off x="2862072" y="4233672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5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512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862072" y="4736592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E5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max_length test</a:t>
            </a:r>
            <a:endParaRPr lang="en-US" sz="770" dirty="0"/>
          </a:p>
        </p:txBody>
      </p:sp>
      <p:sp>
        <p:nvSpPr>
          <p:cNvPr id="14" name="Shape 12"/>
          <p:cNvSpPr/>
          <p:nvPr/>
        </p:nvSpPr>
        <p:spPr>
          <a:xfrm>
            <a:off x="4663440" y="3794760"/>
            <a:ext cx="1691640" cy="1097280"/>
          </a:xfrm>
          <a:prstGeom prst="rect">
            <a:avLst/>
          </a:prstGeom>
          <a:solidFill>
            <a:srgbClr val="FFFDF8"/>
          </a:solidFill>
          <a:ln w="8255">
            <a:solidFill>
              <a:srgbClr val="D7CBB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28032" y="3959352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9737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Roadmap</a:t>
            </a:r>
            <a:endParaRPr lang="en-US" sz="820" dirty="0"/>
          </a:p>
        </p:txBody>
      </p:sp>
      <p:sp>
        <p:nvSpPr>
          <p:cNvPr id="16" name="Text 14"/>
          <p:cNvSpPr/>
          <p:nvPr/>
        </p:nvSpPr>
        <p:spPr>
          <a:xfrm>
            <a:off x="4828032" y="4233672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E5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828032" y="4736592"/>
            <a:ext cx="13624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b="1" dirty="0">
                <a:solidFill>
                  <a:srgbClr val="E5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improvement tracks</a:t>
            </a:r>
            <a:endParaRPr lang="en-US" sz="770" dirty="0"/>
          </a:p>
        </p:txBody>
      </p:sp>
      <p:sp>
        <p:nvSpPr>
          <p:cNvPr id="18" name="Text 16"/>
          <p:cNvSpPr/>
          <p:nvPr/>
        </p:nvSpPr>
        <p:spPr>
          <a:xfrm>
            <a:off x="7315200" y="137160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5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772400" y="1353312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문단 단위 예측 앙상블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772400" y="164592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9DAD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긴 본문 정보 손실 완화</a:t>
            </a:r>
            <a:endParaRPr lang="en-US" sz="780" dirty="0"/>
          </a:p>
        </p:txBody>
      </p:sp>
      <p:sp>
        <p:nvSpPr>
          <p:cNvPr id="21" name="Text 19"/>
          <p:cNvSpPr/>
          <p:nvPr/>
        </p:nvSpPr>
        <p:spPr>
          <a:xfrm>
            <a:off x="7315200" y="2176272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5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7772400" y="215798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max_length 256/512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7772400" y="245059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9DAD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truncation 영향 검증</a:t>
            </a:r>
            <a:endParaRPr lang="en-US" sz="780" dirty="0"/>
          </a:p>
        </p:txBody>
      </p:sp>
      <p:sp>
        <p:nvSpPr>
          <p:cNvPr id="24" name="Text 22"/>
          <p:cNvSpPr/>
          <p:nvPr/>
        </p:nvSpPr>
        <p:spPr>
          <a:xfrm>
            <a:off x="7315200" y="2980944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5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772400" y="2962656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KoELECTRA / RoBERTa-base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7772400" y="3255264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9DAD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 모델 비교 확대</a:t>
            </a:r>
            <a:endParaRPr lang="en-US" sz="780" dirty="0"/>
          </a:p>
        </p:txBody>
      </p:sp>
      <p:sp>
        <p:nvSpPr>
          <p:cNvPr id="27" name="Text 25"/>
          <p:cNvSpPr/>
          <p:nvPr/>
        </p:nvSpPr>
        <p:spPr>
          <a:xfrm>
            <a:off x="7315200" y="3785616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5A84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7772400" y="376732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계층형 또는 multi-label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7772400" y="4059936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C9DAD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라벨 경계 혼동 대응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621792" y="6272784"/>
            <a:ext cx="10927080" cy="0"/>
          </a:xfrm>
          <a:prstGeom prst="line">
            <a:avLst/>
          </a:prstGeom>
          <a:noFill/>
          <a:ln w="8255">
            <a:solidFill>
              <a:srgbClr val="31515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1792" y="6428232"/>
            <a:ext cx="77724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30" dirty="0">
                <a:solidFill>
                  <a:srgbClr val="B7CCC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Focus · Final NLP project deck</a:t>
            </a:r>
            <a:endParaRPr lang="en-US" sz="73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erif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국민청원 장문 텍스트 분류 NLP 프로젝트</dc:title>
  <dc:subject>국민청원 장문 텍스트 분류 최종 발표</dc:subject>
  <dc:creator>NLPpj</dc:creator>
  <cp:lastModifiedBy>NLPpj</cp:lastModifiedBy>
  <cp:revision>1</cp:revision>
  <dcterms:created xsi:type="dcterms:W3CDTF">2026-05-31T07:37:57Z</dcterms:created>
  <dcterms:modified xsi:type="dcterms:W3CDTF">2026-05-31T07:37:57Z</dcterms:modified>
</cp:coreProperties>
</file>