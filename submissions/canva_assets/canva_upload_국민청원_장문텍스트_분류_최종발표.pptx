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2B"/>
          </a:solidFill>
          <a:ln w="12700">
            <a:solidFill>
              <a:srgbClr val="102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FD1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FD1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F0B36A"/>
          </a:solidFill>
          <a:ln w="12700">
            <a:solidFill>
              <a:srgbClr val="F0B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FD1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NLP PROJECT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82296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국민청원 장문 텍스트를 전처리부터 Transformer까지 재현 가능한 파이프라인으로 분류했다.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환경에서 데이터 정제, baseline, Transformer fine-tuning, 평가까지 End-to-End로 구현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B3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" y="41513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FD1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macro F1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487168" y="3749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B3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+0.0912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7168" y="4151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FD1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baseline 대비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535424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B3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35424" y="4151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FD1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발표 구성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492240" y="841248"/>
            <a:ext cx="4892040" cy="4983480"/>
          </a:xfrm>
          <a:prstGeom prst="roundRect">
            <a:avLst>
              <a:gd name="adj" fmla="val 841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105156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702552" y="1499616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구조 또는 청원 텍스트 예시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02552" y="4892040"/>
            <a:ext cx="4471416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5038344"/>
            <a:ext cx="4471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README.md 프로젝트 구조 캡처 또는 data/raw/train.csv 일부 캡처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국민청원 본문은 짧은 문장이 아니라 사회 이슈가 섞인 장문 분류 문제다.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1874520" cy="1353312"/>
          </a:xfrm>
          <a:prstGeom prst="roundRect">
            <a:avLst>
              <a:gd name="adj" fmla="val 2703"/>
            </a:avLst>
          </a:prstGeom>
          <a:solidFill>
            <a:srgbClr val="FBFAF6"/>
          </a:solidFill>
          <a:ln w="8890">
            <a:solidFill>
              <a:srgbClr val="DCEB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64792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876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225296" y="17556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장문 텍스트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9536" y="2167128"/>
            <a:ext cx="14721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546.05자, 일부 본문은 3만 자 이상으로 입력 길이 관리가 필요하다.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2788920" y="1600200"/>
            <a:ext cx="1874520" cy="1353312"/>
          </a:xfrm>
          <a:prstGeom prst="roundRect">
            <a:avLst>
              <a:gd name="adj" fmla="val 2703"/>
            </a:avLst>
          </a:prstGeom>
          <a:solidFill>
            <a:srgbClr val="FBFAF6"/>
          </a:solidFill>
          <a:ln w="8890">
            <a:solidFill>
              <a:srgbClr val="F3E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53512" y="1764792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17876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355848" y="17556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 이슈 중첩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90088" y="2167128"/>
            <a:ext cx="14721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복지, 교육, 정책, 문화 이슈가 한 본문 안에서 함께 등장한다.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4919472" y="1600200"/>
            <a:ext cx="1874520" cy="1353312"/>
          </a:xfrm>
          <a:prstGeom prst="roundRect">
            <a:avLst>
              <a:gd name="adj" fmla="val 2703"/>
            </a:avLst>
          </a:prstGeom>
          <a:solidFill>
            <a:srgbClr val="FBFAF6"/>
          </a:solidFill>
          <a:ln w="8890">
            <a:solidFill>
              <a:srgbClr val="E5DF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764792"/>
            <a:ext cx="292608" cy="292608"/>
          </a:xfrm>
          <a:prstGeom prst="ellipse">
            <a:avLst/>
          </a:prstGeom>
          <a:solidFill>
            <a:srgbClr val="6E5AA7"/>
          </a:solidFill>
          <a:ln w="12700">
            <a:solidFill>
              <a:srgbClr val="6E5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17876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5486400" y="17556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목표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167128"/>
            <a:ext cx="14721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본문을 3개 카테고리로 자동 분류하고 모델별 한계를 비교한다.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658368" y="3968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40,000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58368" y="43708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rows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560320" y="3968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95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5,000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560320" y="43708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rows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242816" y="39684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E5A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242816" y="4370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classes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7114032" y="1417320"/>
            <a:ext cx="4343400" cy="4297680"/>
          </a:xfrm>
          <a:prstGeom prst="roundRect">
            <a:avLst>
              <a:gd name="adj" fmla="val 957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24344" y="162763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7324344" y="207568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 컬럼 예시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24344" y="4782312"/>
            <a:ext cx="3922776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24344" y="4928616"/>
            <a:ext cx="3922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data/raw/train.csv 일부 캡처(index, category, data 컬럼)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라벨은 균형적이지만 결측·중복·긴 본문이 모델링 리스크다.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건강/복지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240280" y="1700784"/>
            <a:ext cx="2011680" cy="73152"/>
          </a:xfrm>
          <a:prstGeom prst="rect">
            <a:avLst/>
          </a:prstGeom>
          <a:solidFill>
            <a:srgbClr val="E8E1D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700784"/>
            <a:ext cx="1911240" cy="73152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645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13,301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0299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문화/예술/체육/언론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240280" y="2084832"/>
            <a:ext cx="2011680" cy="73152"/>
          </a:xfrm>
          <a:prstGeom prst="rect">
            <a:avLst/>
          </a:prstGeom>
          <a:solidFill>
            <a:srgbClr val="E8E1D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2084832"/>
            <a:ext cx="1916413" cy="73152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029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5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13,337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육아/교육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2240280" y="2468880"/>
            <a:ext cx="2011680" cy="73152"/>
          </a:xfrm>
          <a:prstGeom prst="rect">
            <a:avLst/>
          </a:prstGeom>
          <a:solidFill>
            <a:srgbClr val="E8E1D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2468880"/>
            <a:ext cx="1920005" cy="73152"/>
          </a:xfrm>
          <a:prstGeom prst="rect">
            <a:avLst/>
          </a:prstGeom>
          <a:solidFill>
            <a:srgbClr val="6E5AA7"/>
          </a:solidFill>
          <a:ln w="12700">
            <a:solidFill>
              <a:srgbClr val="6E5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4140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5A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13,362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" y="3154680"/>
            <a:ext cx="1645920" cy="1097280"/>
          </a:xfrm>
          <a:prstGeom prst="roundRect">
            <a:avLst>
              <a:gd name="adj" fmla="val 3333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319272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3421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225296" y="331012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" y="3721608"/>
            <a:ext cx="124358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본문 8건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2523744" y="3154680"/>
            <a:ext cx="1645920" cy="1097280"/>
          </a:xfrm>
          <a:prstGeom prst="roundRect">
            <a:avLst>
              <a:gd name="adj" fmla="val 3333"/>
            </a:avLst>
          </a:prstGeom>
          <a:solidFill>
            <a:srgbClr val="F3E1D5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3319272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33421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090672" y="331012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24912" y="3721608"/>
            <a:ext cx="124358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본문 637건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4389120" y="3154680"/>
            <a:ext cx="1645920" cy="1097280"/>
          </a:xfrm>
          <a:prstGeom prst="roundRect">
            <a:avLst>
              <a:gd name="adj" fmla="val 3333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3319272"/>
            <a:ext cx="292608" cy="292608"/>
          </a:xfrm>
          <a:prstGeom prst="ellipse">
            <a:avLst/>
          </a:prstGeom>
          <a:solidFill>
            <a:srgbClr val="6E5AA7"/>
          </a:solidFill>
          <a:ln w="12700">
            <a:solidFill>
              <a:srgbClr val="6E5A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33421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4956048" y="331012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길이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90288" y="3721608"/>
            <a:ext cx="124358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32,767자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6446520" y="1481328"/>
            <a:ext cx="3931920" cy="393192"/>
          </a:xfrm>
          <a:prstGeom prst="rect">
            <a:avLst/>
          </a:prstGeom>
          <a:solidFill>
            <a:srgbClr val="10242B"/>
          </a:solidFill>
          <a:ln w="12700">
            <a:solidFill>
              <a:srgbClr val="102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156362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48472" y="156362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400032" y="156362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46520" y="1874520"/>
            <a:ext cx="3931920" cy="393192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195681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rows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348472" y="195681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40,000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400032" y="195681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5,000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46520" y="2267712"/>
            <a:ext cx="393192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2267712"/>
            <a:ext cx="3931920" cy="393192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235000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348472" y="235000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400032" y="235000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46520" y="2660904"/>
            <a:ext cx="393192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46520" y="2660904"/>
            <a:ext cx="3931920" cy="393192"/>
          </a:xfrm>
          <a:prstGeom prst="rect">
            <a:avLst/>
          </a:prstGeom>
          <a:solidFill>
            <a:srgbClr val="DCEBE7"/>
          </a:solidFill>
          <a:ln w="12700">
            <a:solidFill>
              <a:srgbClr val="DCEB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9672" y="274320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duplicated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348472" y="274320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637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400032" y="274320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3054096"/>
            <a:ext cx="393192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46520" y="3054096"/>
            <a:ext cx="3931920" cy="393192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9672" y="31363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length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348472" y="31363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546.05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400032" y="31363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550.59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46520" y="3447288"/>
            <a:ext cx="393192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3886200"/>
            <a:ext cx="4480560" cy="1417320"/>
          </a:xfrm>
          <a:prstGeom prst="roundRect">
            <a:avLst>
              <a:gd name="adj" fmla="val 2903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56832" y="40965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6656832" y="4544568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차트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6656832" y="4370832"/>
            <a:ext cx="4059936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4517136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reports/figures/category_distribution.svg 또는 text_length_distribution.svg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PREPROCESSING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전처리는 단순 청소가 아니라 분류 신호를 남기고 청원 관용 표현을 줄이는 과정이다.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444752"/>
            <a:ext cx="5074920" cy="4315968"/>
          </a:xfrm>
          <a:prstGeom prst="roundRect">
            <a:avLst>
              <a:gd name="adj" fmla="val 847"/>
            </a:avLst>
          </a:prstGeom>
          <a:solidFill>
            <a:srgbClr val="132027"/>
          </a:solidFill>
          <a:ln w="10160">
            <a:solidFill>
              <a:srgbClr val="2D4A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63624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DD8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src/preprocess.py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804672" y="1847088"/>
            <a:ext cx="4782312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normalize_text(value):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html.unescape(str(value))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re.sub(r"&lt;[^&gt;]+&gt;", " ", text)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re.sub(r"https?://\S+|www\.\S+", " ", text)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re.sub(r"[\w.+-]+@[\w-]+", " ", text)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re.sub(r"[^0-9A-Za-z가-힣\s]", " ", text)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re.sub(r"\s+", " ", text).strip()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144768" y="1444752"/>
            <a:ext cx="2331720" cy="1078992"/>
          </a:xfrm>
          <a:prstGeom prst="roundRect">
            <a:avLst>
              <a:gd name="adj" fmla="val 3390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09344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322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6711696" y="160020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Noise 제거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45936" y="2011680"/>
            <a:ext cx="192938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HTML, URL, email 제거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732520" y="1444752"/>
            <a:ext cx="2331720" cy="1078992"/>
          </a:xfrm>
          <a:prstGeom prst="roundRect">
            <a:avLst>
              <a:gd name="adj" fmla="val 3390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7112" y="1609344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16322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9299448" y="160020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정규화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33688" y="2011680"/>
            <a:ext cx="192938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특수문자와 공백 정리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144768" y="2816352"/>
            <a:ext cx="2331720" cy="1078992"/>
          </a:xfrm>
          <a:prstGeom prst="roundRect">
            <a:avLst>
              <a:gd name="adj" fmla="val 3390"/>
            </a:avLst>
          </a:prstGeom>
          <a:solidFill>
            <a:srgbClr val="DCEBE7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980944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0038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711696" y="297180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품질 관리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45936" y="3383280"/>
            <a:ext cx="192938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결측·중복 본문 제거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8732520" y="2816352"/>
            <a:ext cx="2331720" cy="1078992"/>
          </a:xfrm>
          <a:prstGeom prst="roundRect">
            <a:avLst>
              <a:gd name="adj" fmla="val 3390"/>
            </a:avLst>
          </a:prstGeom>
          <a:solidFill>
            <a:srgbClr val="F3E1D5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97112" y="2980944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7112" y="30038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9299448" y="297180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불용어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33688" y="3383280"/>
            <a:ext cx="192938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청원 관용 표현 제거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6144768" y="4407408"/>
            <a:ext cx="4919472" cy="1234440"/>
          </a:xfrm>
          <a:prstGeom prst="roundRect">
            <a:avLst>
              <a:gd name="adj" fmla="val 3333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617720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6355080" y="5065776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전처리 전후 요약표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55080" y="4709160"/>
            <a:ext cx="4498848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855464"/>
            <a:ext cx="4498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reports/outputs/preprocessing_comparison.csv 표 캡처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VOCAB CONTROL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정제 후 39,272건으로 실험 데이터를 통제하고, 어휘 노이즈를 줄였다.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6656" y="15727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40,000 → 39,272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" y="19751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train → clean train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3611880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95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546.05 → 524.48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1975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길이 변화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6199632" y="15727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E5A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140,755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99632" y="1975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어휘 수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58368" y="2999232"/>
            <a:ext cx="2606040" cy="1417320"/>
          </a:xfrm>
          <a:prstGeom prst="roundRect">
            <a:avLst>
              <a:gd name="adj" fmla="val 2581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163824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866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225296" y="315468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min_df=3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3566160"/>
            <a:ext cx="220370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한두 문서에만 등장하는 오탈자·고유 잡음을 줄이면서 도메인 표현은 유지한다.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3547872" y="2999232"/>
            <a:ext cx="2606040" cy="1417320"/>
          </a:xfrm>
          <a:prstGeom prst="roundRect">
            <a:avLst>
              <a:gd name="adj" fmla="val 2581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3163824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31866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4114800" y="315468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max_df=0.85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3566160"/>
            <a:ext cx="220370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흔한 표현은 제거하되 사회 이슈 핵심어는 과도하게 버리지 않는다.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620256" y="2852928"/>
            <a:ext cx="4617720" cy="2057400"/>
          </a:xfrm>
          <a:prstGeom prst="roundRect">
            <a:avLst>
              <a:gd name="adj" fmla="val 2000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063240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6830568" y="3511296"/>
            <a:ext cx="4197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불용어 제거 전후 토큰 비교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30568" y="3977640"/>
            <a:ext cx="4197096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123944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reports/figures/top_tokens_before_stopwords.svg + top_tokens_after_stopwords.svg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CONTROLLED EXPERIMENT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모든 모델은 같은 split, 같은 seed, 같은 평가 지표로 비교했다.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426464"/>
            <a:ext cx="4526280" cy="3337560"/>
          </a:xfrm>
          <a:prstGeom prst="roundRect">
            <a:avLst>
              <a:gd name="adj" fmla="val 1096"/>
            </a:avLst>
          </a:prstGeom>
          <a:solidFill>
            <a:srgbClr val="132027"/>
          </a:solidFill>
          <a:ln w="10160">
            <a:solidFill>
              <a:srgbClr val="2D4A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45336"/>
            <a:ext cx="4233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DD8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 config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804672" y="1828800"/>
            <a:ext cx="423367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class SplitConfig: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seed = 42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train_ratio = 0.70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valid_ratio = 0.15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test_ratio = 0.15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class TfidfRfConfig: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min_df = 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max_df = 0.85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random_state = 42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596128" y="1508760"/>
            <a:ext cx="4892040" cy="438912"/>
          </a:xfrm>
          <a:prstGeom prst="rect">
            <a:avLst/>
          </a:prstGeom>
          <a:solidFill>
            <a:srgbClr val="10242B"/>
          </a:solidFill>
          <a:ln w="12700">
            <a:solidFill>
              <a:srgbClr val="1024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9105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12280" y="159105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rows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0" y="159105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balance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96128" y="1947672"/>
            <a:ext cx="4892040" cy="438912"/>
          </a:xfrm>
          <a:prstGeom prst="rect">
            <a:avLst/>
          </a:prstGeom>
          <a:solidFill>
            <a:srgbClr val="DCEBE7"/>
          </a:solidFill>
          <a:ln w="12700">
            <a:solidFill>
              <a:srgbClr val="DCEB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02996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12280" y="202996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27,490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63840" y="2029968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9,078 / 9,230 / 9,182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96128" y="2386584"/>
            <a:ext cx="489204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96128" y="2386584"/>
            <a:ext cx="4892040" cy="438912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46888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12280" y="246888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5,891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863840" y="2468880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1,945 / 1,978 / 1,968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96128" y="2825496"/>
            <a:ext cx="489204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25496"/>
            <a:ext cx="4892040" cy="438912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90779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12280" y="29077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5,891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63840" y="2907792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1,945 / 1,978 / 1,968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96128" y="3264408"/>
            <a:ext cx="489204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96128" y="3703320"/>
            <a:ext cx="1554480" cy="1115568"/>
          </a:xfrm>
          <a:prstGeom prst="roundRect">
            <a:avLst>
              <a:gd name="adj" fmla="val 3279"/>
            </a:avLst>
          </a:prstGeom>
          <a:solidFill>
            <a:srgbClr val="DCEBE7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867912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8907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6163056" y="38587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97296" y="4270248"/>
            <a:ext cx="115214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`42` 고정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7342632" y="3703320"/>
            <a:ext cx="1554480" cy="1115568"/>
          </a:xfrm>
          <a:prstGeom prst="roundRect">
            <a:avLst>
              <a:gd name="adj" fmla="val 3279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07224" y="3867912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7224" y="38907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7909560" y="38587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43800" y="4270248"/>
            <a:ext cx="115214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중심 평가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9089136" y="3703320"/>
            <a:ext cx="1554480" cy="1115568"/>
          </a:xfrm>
          <a:prstGeom prst="roundRect">
            <a:avLst>
              <a:gd name="adj" fmla="val 3279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53728" y="3867912"/>
            <a:ext cx="292608" cy="292608"/>
          </a:xfrm>
          <a:prstGeom prst="ellipse">
            <a:avLst/>
          </a:prstGeom>
          <a:solidFill>
            <a:srgbClr val="6E5AA7"/>
          </a:solidFill>
          <a:ln w="12700">
            <a:solidFill>
              <a:srgbClr val="6E5A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53728" y="38907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9656064" y="38587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290304" y="4270248"/>
            <a:ext cx="115214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70/15/15</a:t>
            </a:r>
            <a:endParaRPr lang="en-US" sz="9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LADDER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빠른 baseline, 교재형 LSTM, 한국어 Transformer를 단계적으로 비교했다.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664208"/>
            <a:ext cx="2926080" cy="2423160"/>
          </a:xfrm>
          <a:prstGeom prst="roundRect">
            <a:avLst>
              <a:gd name="adj" fmla="val 1509"/>
            </a:avLst>
          </a:prstGeom>
          <a:solidFill>
            <a:srgbClr val="FBFAF6"/>
          </a:solidFill>
          <a:ln w="8890">
            <a:solidFill>
              <a:srgbClr val="DCEB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828800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8516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252728" y="181965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Random Forest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2231136"/>
            <a:ext cx="2523744" cy="1709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 빠르고 안정적인 기준선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 문장 순서·문맥 반영 어려움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macro F1 0.7934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3730752" y="2788920"/>
            <a:ext cx="475488" cy="0"/>
          </a:xfrm>
          <a:prstGeom prst="line">
            <a:avLst/>
          </a:prstGeom>
          <a:noFill/>
          <a:ln w="15240">
            <a:solidFill>
              <a:srgbClr val="C9BDA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1664208"/>
            <a:ext cx="2926080" cy="2423160"/>
          </a:xfrm>
          <a:prstGeom prst="roundRect">
            <a:avLst>
              <a:gd name="adj" fmla="val 1509"/>
            </a:avLst>
          </a:prstGeom>
          <a:solidFill>
            <a:srgbClr val="FBFAF6"/>
          </a:solidFill>
          <a:ln w="8890">
            <a:solidFill>
              <a:srgbClr val="F3E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1828800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8516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910328" y="181965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44568" y="2231136"/>
            <a:ext cx="2523744" cy="1709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 순서 정보 반영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 max_len=160에서 긴 본문 손실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macro F1 0.7201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7388352" y="2788920"/>
            <a:ext cx="475488" cy="0"/>
          </a:xfrm>
          <a:prstGeom prst="line">
            <a:avLst/>
          </a:prstGeom>
          <a:noFill/>
          <a:ln w="15240">
            <a:solidFill>
              <a:srgbClr val="C9BDA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01000" y="1664208"/>
            <a:ext cx="2926080" cy="2423160"/>
          </a:xfrm>
          <a:prstGeom prst="roundRect">
            <a:avLst>
              <a:gd name="adj" fmla="val 1509"/>
            </a:avLst>
          </a:prstGeom>
          <a:solidFill>
            <a:srgbClr val="DCEBE7"/>
          </a:solidFill>
          <a:ln w="15240">
            <a:solidFill>
              <a:srgbClr val="126C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65592" y="1828800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18516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8567928" y="181965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klue/roberta-small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02168" y="2231136"/>
            <a:ext cx="2523744" cy="1709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 한국어 Transformer 실험군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강점: subword + self-attention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macro F1 0.8847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530352" y="47914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 카드는 최종 선택 모델이므로 배경과 테두리로 성능 우위를 강조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 CODE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DistilKoBERT 문제를 회피하고, 로컬 CUDA에서 안정적으로 학습 가능한 한국어 Transformer를 선택했다.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2423160" cy="1325880"/>
          </a:xfrm>
          <a:prstGeom prst="roundRect">
            <a:avLst>
              <a:gd name="adj" fmla="val 2759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81912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047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225296" y="157276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후보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9536" y="1984248"/>
            <a:ext cx="20208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`monologg/distilkobert`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tokenizer loading 문제 발생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58368" y="2999232"/>
            <a:ext cx="2423160" cy="1325880"/>
          </a:xfrm>
          <a:prstGeom prst="roundRect">
            <a:avLst>
              <a:gd name="adj" fmla="val 2759"/>
            </a:avLst>
          </a:prstGeom>
          <a:solidFill>
            <a:srgbClr val="DCEBE7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163824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866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225296" y="315468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" y="3566160"/>
            <a:ext cx="20208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`klue/roberta-small`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Hugging Face에서 안정적으로 로딩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3520440" y="1417320"/>
            <a:ext cx="7132320" cy="3017520"/>
          </a:xfrm>
          <a:prstGeom prst="roundRect">
            <a:avLst>
              <a:gd name="adj" fmla="val 1212"/>
            </a:avLst>
          </a:prstGeom>
          <a:solidFill>
            <a:srgbClr val="132027"/>
          </a:solidFill>
          <a:ln w="10160">
            <a:solidFill>
              <a:srgbClr val="2D4A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1536192"/>
            <a:ext cx="6839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DD8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src/train_kobert.py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3666744" y="1819656"/>
            <a:ext cx="683971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tokenizer = AutoTokenizer.from_pretrained(config.model_name)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 = AutoModelForSequenceClassification.from_pretrained(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config.model_name,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num_labels=len(LABELS),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optimizer = torch.optim.AdamW(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model.parameters(),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lr=2e-5,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weight_decay=0.01,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520440" y="48006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4956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max_length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721608" y="5367528"/>
            <a:ext cx="768096" cy="-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48006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4956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batch_size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138928" y="5367528"/>
            <a:ext cx="768096" cy="-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48006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4956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556248" y="5367528"/>
            <a:ext cx="768096" cy="-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48006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4956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lr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973568" y="5367528"/>
            <a:ext cx="768096" cy="-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2e-5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89720" y="48006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6648" y="4956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device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9390888" y="5367528"/>
            <a:ext cx="768096" cy="-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5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CUDA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Transformer는 macro F1 0.8847로 목표 0.88을 달성했다.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4937760" cy="4297680"/>
          </a:xfrm>
          <a:prstGeom prst="roundRect">
            <a:avLst>
              <a:gd name="adj" fmla="val 957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27632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868680" y="2075688"/>
            <a:ext cx="4517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최종 Macro F1 비교 차트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782312"/>
            <a:ext cx="4517136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28616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reports/figures/final_macro_f1_comparison.svg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080760" y="14813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0760" y="1883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 macro F1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8549640" y="1481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5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+0.0912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49640" y="1883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baseline 대비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080760" y="2578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E5A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+0.1646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080760" y="2980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 대비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080760" y="3730752"/>
            <a:ext cx="3840480" cy="402336"/>
          </a:xfrm>
          <a:prstGeom prst="rect">
            <a:avLst/>
          </a:prstGeom>
          <a:solidFill>
            <a:srgbClr val="10242B"/>
          </a:solidFill>
          <a:ln w="12700">
            <a:solidFill>
              <a:srgbClr val="1024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381304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28432" y="38130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F1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79992" y="381304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elapsed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4133088"/>
            <a:ext cx="3840480" cy="402336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4215384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RF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28432" y="42153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0.7934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079992" y="42153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25.53s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4535424"/>
            <a:ext cx="384048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4535424"/>
            <a:ext cx="3840480" cy="402336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461772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28432" y="461772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0.7201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079992" y="461772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384.68s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80760" y="4937760"/>
            <a:ext cx="384048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4937760"/>
            <a:ext cx="3840480" cy="402336"/>
          </a:xfrm>
          <a:prstGeom prst="rect">
            <a:avLst/>
          </a:prstGeom>
          <a:solidFill>
            <a:srgbClr val="DCEBE7"/>
          </a:solidFill>
          <a:ln w="12700">
            <a:solidFill>
              <a:srgbClr val="DCEB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502005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28432" y="502005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79992" y="502005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427.07s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0760" y="5340096"/>
            <a:ext cx="3840480" cy="0"/>
          </a:xfrm>
          <a:prstGeom prst="line">
            <a:avLst/>
          </a:prstGeom>
          <a:noFill/>
          <a:ln w="7620">
            <a:solidFill>
              <a:srgbClr val="E8E1D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 ANALYSIS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남은 오류는 모델 성능 부족보다 사회정책 의미가 겹치는 라벨 경계 문제에 가깝다.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4937760" cy="4297680"/>
          </a:xfrm>
          <a:prstGeom prst="roundRect">
            <a:avLst>
              <a:gd name="adj" fmla="val 957"/>
            </a:avLst>
          </a:prstGeom>
          <a:solidFill>
            <a:srgbClr val="FBFAF6"/>
          </a:solidFill>
          <a:ln w="12700">
            <a:solidFill>
              <a:srgbClr val="C9BD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27632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이미지/캡처 삽입 위치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868680" y="2075688"/>
            <a:ext cx="4517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KoBERT Confusion Matrix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782312"/>
            <a:ext cx="4517136" cy="0"/>
          </a:xfrm>
          <a:prstGeom prst="line">
            <a:avLst/>
          </a:prstGeom>
          <a:noFill/>
          <a:ln w="10160">
            <a:solidFill>
              <a:srgbClr val="E8E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28616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권장: reports/figures/kobert_confusion_matrix.svg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4343400" cy="1133856"/>
          </a:xfrm>
          <a:prstGeom prst="roundRect">
            <a:avLst>
              <a:gd name="adj" fmla="val 322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581912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6047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647688" y="157276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육아/교육 → 건강/복지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81928" y="1984248"/>
            <a:ext cx="394106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`230건`, `11.69%`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아동, 돌봄, 복지 이슈 중첩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080760" y="2798064"/>
            <a:ext cx="4343400" cy="1133856"/>
          </a:xfrm>
          <a:prstGeom prst="roundRect">
            <a:avLst>
              <a:gd name="adj" fmla="val 3226"/>
            </a:avLst>
          </a:prstGeom>
          <a:solidFill>
            <a:srgbClr val="F3E1D5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2962656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29855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6647688" y="295351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건강/복지 → 문화/언론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81928" y="3364992"/>
            <a:ext cx="394106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`141건`, `7.25%`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캠페인, 체육·복지 연결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6080760" y="4178808"/>
            <a:ext cx="4343400" cy="1133856"/>
          </a:xfrm>
          <a:prstGeom prst="roundRect">
            <a:avLst>
              <a:gd name="adj" fmla="val 3226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5352" y="4343400"/>
            <a:ext cx="292608" cy="292608"/>
          </a:xfrm>
          <a:prstGeom prst="ellipse">
            <a:avLst/>
          </a:prstGeom>
          <a:solidFill>
            <a:srgbClr val="6E5AA7"/>
          </a:solidFill>
          <a:ln w="12700">
            <a:solidFill>
              <a:srgbClr val="6E5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43662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6647688" y="4334256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건강/복지 → 육아/교육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81928" y="4745736"/>
            <a:ext cx="394106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`106건`, `5.45%`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보호, 제도 개선, 교육복지 혼합</a:t>
            </a:r>
            <a:endParaRPr lang="en-US" sz="9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6510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NLPpj · Final Presentation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30352" y="411480"/>
            <a:ext cx="109728" cy="109728"/>
          </a:xfrm>
          <a:prstGeom prst="rect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30352" y="6583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목표 성능은 달성했지만 긴 본문 truncation과 라벨 경계 혼동은 다음 개선 과제다.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2331720" cy="1234440"/>
          </a:xfrm>
          <a:prstGeom prst="roundRect">
            <a:avLst>
              <a:gd name="adj" fmla="val 2963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81912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047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225296" y="1572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9536" y="1984248"/>
            <a:ext cx="192938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Miniconda / PyTorch CUDA 로컬 재현 환경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58368" y="2852928"/>
            <a:ext cx="2331720" cy="1234440"/>
          </a:xfrm>
          <a:prstGeom prst="roundRect">
            <a:avLst>
              <a:gd name="adj" fmla="val 2963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17520"/>
            <a:ext cx="292608" cy="292608"/>
          </a:xfrm>
          <a:prstGeom prst="ellipse">
            <a:avLst/>
          </a:prstGeom>
          <a:solidFill>
            <a:srgbClr val="B95B2E"/>
          </a:solidFill>
          <a:ln w="12700">
            <a:solidFill>
              <a:srgbClr val="B95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403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225296" y="3008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" y="3419856"/>
            <a:ext cx="192938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→ 전처리 → baseline → Transformer → 평가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58368" y="4288536"/>
            <a:ext cx="2331720" cy="1234440"/>
          </a:xfrm>
          <a:prstGeom prst="roundRect">
            <a:avLst>
              <a:gd name="adj" fmla="val 2963"/>
            </a:avLst>
          </a:prstGeom>
          <a:solidFill>
            <a:srgbClr val="DCEBE7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453128"/>
            <a:ext cx="292608" cy="292608"/>
          </a:xfrm>
          <a:prstGeom prst="ellipse">
            <a:avLst/>
          </a:prstGeom>
          <a:solidFill>
            <a:srgbClr val="126C77"/>
          </a:solidFill>
          <a:ln w="12700">
            <a:solidFill>
              <a:srgbClr val="126C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759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225296" y="444398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" y="4855464"/>
            <a:ext cx="192938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F1 0.8847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0.88 달성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4572000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C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1865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102352" y="1444752"/>
            <a:ext cx="5120640" cy="749808"/>
          </a:xfrm>
          <a:prstGeom prst="roundRect">
            <a:avLst>
              <a:gd name="adj" fmla="val 4878"/>
            </a:avLst>
          </a:prstGeom>
          <a:solidFill>
            <a:srgbClr val="DCEBE7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600200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 단위 예측 앙상블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5303520" y="2011680"/>
            <a:ext cx="4718304" cy="36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본문 정보 손실 완화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7662672" y="2203704"/>
            <a:ext cx="0" cy="155448"/>
          </a:xfrm>
          <a:prstGeom prst="line">
            <a:avLst/>
          </a:prstGeom>
          <a:noFill/>
          <a:ln w="15240">
            <a:solidFill>
              <a:srgbClr val="C9BDAE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572000" y="2423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28254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102352" y="2404872"/>
            <a:ext cx="5120640" cy="749808"/>
          </a:xfrm>
          <a:prstGeom prst="roundRect">
            <a:avLst>
              <a:gd name="adj" fmla="val 4878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560320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max_length 256/512 실험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5303520" y="2971800"/>
            <a:ext cx="4718304" cy="36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truncation 영향 검증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7662672" y="3163824"/>
            <a:ext cx="0" cy="155448"/>
          </a:xfrm>
          <a:prstGeom prst="line">
            <a:avLst/>
          </a:prstGeom>
          <a:noFill/>
          <a:ln w="15240">
            <a:solidFill>
              <a:srgbClr val="C9BDAE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57200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0" y="37856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5102352" y="3364992"/>
            <a:ext cx="5120640" cy="749808"/>
          </a:xfrm>
          <a:prstGeom prst="roundRect">
            <a:avLst>
              <a:gd name="adj" fmla="val 4878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520440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KLUE-RoBERTa-base / KoELECTRA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5303520" y="3931920"/>
            <a:ext cx="4718304" cy="36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모델 비교 확대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7662672" y="4123944"/>
            <a:ext cx="0" cy="155448"/>
          </a:xfrm>
          <a:prstGeom prst="line">
            <a:avLst/>
          </a:prstGeom>
          <a:noFill/>
          <a:ln w="15240">
            <a:solidFill>
              <a:srgbClr val="C9BDAE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572000" y="4343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0" y="4745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5102352" y="4325112"/>
            <a:ext cx="5120640" cy="749808"/>
          </a:xfrm>
          <a:prstGeom prst="roundRect">
            <a:avLst>
              <a:gd name="adj" fmla="val 4878"/>
            </a:avLst>
          </a:prstGeom>
          <a:solidFill>
            <a:srgbClr val="FBFAF6"/>
          </a:solidFill>
          <a:ln w="8890">
            <a:solidFill>
              <a:srgbClr val="E8E1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4480560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계층형 또는 multi-label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5303520" y="4892040"/>
            <a:ext cx="4718304" cy="36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370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경계 혼동 대응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4526280" y="5532120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핵심은 높은 점수 하나가 아니라, 왜 그 결과가 나왔는지 코드와 수치로 설명 가능한 구조를 만든 것이다.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NLPpj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국민청원 장문 텍스트 분류 NLP 프로젝트</dc:title>
  <dc:subject>국민청원 장문 텍스트 분류 최종 발표</dc:subject>
  <dc:creator>NLPpj</dc:creator>
  <cp:lastModifiedBy>NLPpj</cp:lastModifiedBy>
  <cp:revision>1</cp:revision>
  <dcterms:created xsi:type="dcterms:W3CDTF">2026-05-31T06:13:51Z</dcterms:created>
  <dcterms:modified xsi:type="dcterms:W3CDTF">2026-05-31T06:13:51Z</dcterms:modified>
</cp:coreProperties>
</file>